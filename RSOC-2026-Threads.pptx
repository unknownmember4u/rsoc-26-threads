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8288000" cy="10287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4" d="100"/>
          <a:sy n="44" d="100"/>
        </p:scale>
        <p:origin x="660" y="96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2173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2787550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874324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6113705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47075869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3682359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83432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2579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854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E786FF-613A-9F86-AEF0-562ACCFD19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6143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26226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0650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BD7008-490A-3A5F-C536-62341554A0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4733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7742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390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5D8365-F5A8-06A4-E9D2-597A4D7697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5322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79136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7203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8059E0-BEA1-A9F6-25C4-3EA8381569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95286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17247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788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4C766-719C-B057-8FFB-84D4E102BD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7163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14202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7246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5367FB-975A-A0DE-58BF-AA058AE52B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443158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50188382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58655345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178746641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57132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2738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1375589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64005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5665955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562682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944969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3507210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129181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48748669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531051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75091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65966883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5148447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976007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50036338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51652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8166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672612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825434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0064673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5888301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5123677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8216390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9691191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40258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5451971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130850679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877138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55712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186954929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965852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99644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8350391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2290899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105803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81134135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316113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263658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589889631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203878674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2721687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53531697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656780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88613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59182716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475290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164958076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75818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28157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1153526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953130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142982493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3470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373525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402213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94274846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3/12/2026</a:t>
            </a:fld>
            <a:endParaRPr lang="en-US"/>
          </a:p>
        </p:txBody>
      </p:sp>
      <p:sp>
        <p:nvSpPr>
          <p:cNvPr id="126749146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434643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www.kaggle.com/datasets/utathya/smart-city-traffic-patterns" TargetMode="External"/><Relationship Id="rId5" Type="http://schemas.openxmlformats.org/officeDocument/2006/relationships/hyperlink" Target="https://www.researchgate.net/publication/363677388_Smart_City_Traffic_Patterns_Prediction_Using_Machine_Learning?utm_source=chatgpt.com" TargetMode="External"/><Relationship Id="rId6" Type="http://schemas.openxmlformats.org/officeDocument/2006/relationships/hyperlink" Target="https://assets-eu.researchsquare.com/files/rs-8328705/v1/ab5e3ed4-dba5-4e01-a53b-786fa7e8a1f2.pdf?c=1766405421" TargetMode="External"/><Relationship Id="rId7" Type="http://schemas.openxmlformats.org/officeDocument/2006/relationships/hyperlink" Target="https://arxiv.org/abs/2401.13794" TargetMode="External"/><Relationship Id="rId8" Type="http://schemas.openxmlformats.org/officeDocument/2006/relationships/hyperlink" Target="https://timesofindia.indiatimes.com/city/mysuru/mysuru-adds-1-7l-vehicles-in-2-years-traffic-woes-deepen/articleshow/129410092.cms" TargetMode="External"/><Relationship Id="rId9" Type="http://schemas.openxmlformats.org/officeDocument/2006/relationships/hyperlink" Target="https://timesofindia.indiatimes.com/city/bengaluru/bengaluru-was-2nd-most-congested-city-in-the-world-in-2025-rush-hour-speed-at-13-9kmph/articleshow/127048613.cms" TargetMode="External"/><Relationship Id="rId10" Type="http://schemas.openxmlformats.org/officeDocument/2006/relationships/hyperlink" Target="https://timesofindia.indiatimes.com/city/chennai/weather-alone-can-influence-air-pollution-in-cities-like-delhi-patna-kolkata-mumbai-chennai-and-bengaluru-by-up-to-40-study/articleshow/129477447.cms" TargetMode="External"/><Relationship Id="rId11" Type="http://schemas.openxmlformats.org/officeDocument/2006/relationships/hyperlink" Target="https://www.theguardian.com/uk-news/2026/mar/13/suv-drivers-could-face-extra-charges-for-driving-in-london" TargetMode="External"/><Relationship Id="rId12" Type="http://schemas.openxmlformats.org/officeDocument/2006/relationships/image" Target="../media/image3.png"/><Relationship Id="rId1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654070" name="AutoShape 2"/>
          <p:cNvSpPr/>
          <p:nvPr/>
        </p:nvSpPr>
        <p:spPr bwMode="auto">
          <a:xfrm>
            <a:off x="0" y="10282238"/>
            <a:ext cx="18288000" cy="0"/>
          </a:xfrm>
          <a:prstGeom prst="line">
            <a:avLst/>
          </a:prstGeom>
          <a:ln w="9525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5345054" name="Freeform 3"/>
          <p:cNvSpPr/>
          <p:nvPr/>
        </p:nvSpPr>
        <p:spPr bwMode="auto">
          <a:xfrm>
            <a:off x="607194" y="464929"/>
            <a:ext cx="3094349" cy="1450639"/>
          </a:xfrm>
          <a:custGeom>
            <a:avLst/>
            <a:gdLst/>
            <a:ahLst/>
            <a:cxnLst/>
            <a:rect l="l" t="t" r="r" b="b"/>
            <a:pathLst>
              <a:path w="3094349" h="1450639" fill="norm" stroke="1" extrusionOk="0">
                <a:moveTo>
                  <a:pt x="0" y="0"/>
                </a:moveTo>
                <a:lnTo>
                  <a:pt x="3094349" y="0"/>
                </a:lnTo>
                <a:lnTo>
                  <a:pt x="3094349" y="1450640"/>
                </a:lnTo>
                <a:lnTo>
                  <a:pt x="0" y="14506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en-US" sz="1800"/>
          </a:p>
        </p:txBody>
      </p:sp>
      <p:sp>
        <p:nvSpPr>
          <p:cNvPr id="250639007" name="TextBox 4"/>
          <p:cNvSpPr txBox="1"/>
          <p:nvPr/>
        </p:nvSpPr>
        <p:spPr bwMode="auto">
          <a:xfrm>
            <a:off x="2916423" y="649552"/>
            <a:ext cx="11378549" cy="823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81"/>
              </a:lnSpc>
              <a:defRPr/>
            </a:pPr>
            <a:r>
              <a:rPr lang="en-US" sz="7200" b="1" spc="-727">
                <a:solidFill>
                  <a:srgbClr val="191919">
                    <a:alpha val="92941"/>
                  </a:srgbClr>
                </a:solidFill>
                <a:latin typeface="Caladea"/>
                <a:ea typeface="Caladea"/>
                <a:cs typeface="Caladea"/>
              </a:rPr>
              <a:t>RSOC-2026</a:t>
            </a:r>
            <a:endParaRPr sz="1800">
              <a:latin typeface="Caladea"/>
              <a:cs typeface="Caladea"/>
            </a:endParaRPr>
          </a:p>
        </p:txBody>
      </p:sp>
      <p:sp>
        <p:nvSpPr>
          <p:cNvPr id="1481202078" name="Freeform 5"/>
          <p:cNvSpPr/>
          <p:nvPr/>
        </p:nvSpPr>
        <p:spPr bwMode="auto">
          <a:xfrm>
            <a:off x="131324" y="9258300"/>
            <a:ext cx="2571612" cy="873378"/>
          </a:xfrm>
          <a:custGeom>
            <a:avLst/>
            <a:gdLst/>
            <a:ahLst/>
            <a:cxnLst/>
            <a:rect l="l" t="t" r="r" b="b"/>
            <a:pathLst>
              <a:path w="2571612" h="873378" fill="norm" stroke="1" extrusionOk="0">
                <a:moveTo>
                  <a:pt x="0" y="0"/>
                </a:moveTo>
                <a:lnTo>
                  <a:pt x="2571612" y="0"/>
                </a:lnTo>
                <a:lnTo>
                  <a:pt x="2571612" y="873378"/>
                </a:lnTo>
                <a:lnTo>
                  <a:pt x="0" y="8733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/>
          </a:blipFill>
        </p:spPr>
        <p:txBody>
          <a:bodyPr anchor="ctr"/>
          <a:p>
            <a:pPr algn="ctr">
              <a:defRPr/>
            </a:pPr>
            <a:endParaRPr sz="1800"/>
          </a:p>
        </p:txBody>
      </p:sp>
      <p:sp>
        <p:nvSpPr>
          <p:cNvPr id="1881196761" name="AutoShape 6"/>
          <p:cNvSpPr/>
          <p:nvPr/>
        </p:nvSpPr>
        <p:spPr bwMode="auto">
          <a:xfrm>
            <a:off x="2916424" y="9632601"/>
            <a:ext cx="13606988" cy="62388"/>
          </a:xfrm>
          <a:prstGeom prst="line">
            <a:avLst/>
          </a:prstGeom>
          <a:ln w="28575" cap="flat">
            <a:solidFill>
              <a:srgbClr val="AA131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65318523" name="Group 7"/>
          <p:cNvGrpSpPr/>
          <p:nvPr/>
        </p:nvGrpSpPr>
        <p:grpSpPr bwMode="auto">
          <a:xfrm rot="-10800000">
            <a:off x="16856440" y="0"/>
            <a:ext cx="1431560" cy="10287000"/>
            <a:chOff x="0" y="0"/>
            <a:chExt cx="377036" cy="2709333"/>
          </a:xfrm>
        </p:grpSpPr>
        <p:sp>
          <p:nvSpPr>
            <p:cNvPr id="8" name="Freeform 8"/>
            <p:cNvSpPr/>
            <p:nvPr/>
          </p:nvSpPr>
          <p:spPr bwMode="auto">
            <a:xfrm>
              <a:off x="0" y="0"/>
              <a:ext cx="377036" cy="2709333"/>
            </a:xfrm>
            <a:custGeom>
              <a:avLst/>
              <a:gdLst/>
              <a:ahLst/>
              <a:cxnLst/>
              <a:rect l="l" t="t" r="r" b="b"/>
              <a:pathLst>
                <a:path w="377036" h="2709333" fill="norm" stroke="1" extrusionOk="0">
                  <a:moveTo>
                    <a:pt x="0" y="0"/>
                  </a:moveTo>
                  <a:lnTo>
                    <a:pt x="377036" y="0"/>
                  </a:lnTo>
                  <a:lnTo>
                    <a:pt x="377036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FF3B4B">
                    <a:alpha val="100000"/>
                  </a:srgbClr>
                </a:gs>
                <a:gs pos="100000">
                  <a:srgbClr val="98C4EC">
                    <a:alpha val="100000"/>
                  </a:srgbClr>
                </a:gs>
              </a:gsLst>
              <a:lin ang="5400000" scaled="1"/>
            </a:gradFill>
          </p:spPr>
          <p:txBody>
            <a:bodyPr anchor="ctr"/>
            <a:p>
              <a:pPr algn="ctr">
                <a:defRPr/>
              </a:pPr>
              <a:endParaRPr sz="1800"/>
            </a:p>
          </p:txBody>
        </p:sp>
        <p:sp>
          <p:nvSpPr>
            <p:cNvPr id="9" name="TextBox 9"/>
            <p:cNvSpPr txBox="1"/>
            <p:nvPr/>
          </p:nvSpPr>
          <p:spPr bwMode="auto">
            <a:xfrm>
              <a:off x="0" y="-38100"/>
              <a:ext cx="377036" cy="274743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defRPr/>
              </a:pPr>
              <a:endParaRPr sz="1800"/>
            </a:p>
          </p:txBody>
        </p:sp>
      </p:grpSp>
      <p:sp>
        <p:nvSpPr>
          <p:cNvPr id="237263135" name="Freeform 10"/>
          <p:cNvSpPr/>
          <p:nvPr/>
        </p:nvSpPr>
        <p:spPr bwMode="auto">
          <a:xfrm>
            <a:off x="13796967" y="-701436"/>
            <a:ext cx="3149217" cy="3149217"/>
          </a:xfrm>
          <a:custGeom>
            <a:avLst/>
            <a:gdLst/>
            <a:ahLst/>
            <a:cxnLst/>
            <a:rect l="l" t="t" r="r" b="b"/>
            <a:pathLst>
              <a:path w="3149217" h="3149217" fill="norm" stroke="1" extrusionOk="0">
                <a:moveTo>
                  <a:pt x="0" y="0"/>
                </a:moveTo>
                <a:lnTo>
                  <a:pt x="3149217" y="0"/>
                </a:lnTo>
                <a:lnTo>
                  <a:pt x="3149217" y="3149216"/>
                </a:lnTo>
                <a:lnTo>
                  <a:pt x="0" y="31492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/>
          </a:blipFill>
        </p:spPr>
        <p:txBody>
          <a:bodyPr anchor="ctr"/>
          <a:p>
            <a:pPr algn="ctr">
              <a:defRPr/>
            </a:pPr>
            <a:endParaRPr sz="1800"/>
          </a:p>
        </p:txBody>
      </p:sp>
      <p:grpSp>
        <p:nvGrpSpPr>
          <p:cNvPr id="2122031520" name="Group 11"/>
          <p:cNvGrpSpPr/>
          <p:nvPr/>
        </p:nvGrpSpPr>
        <p:grpSpPr bwMode="auto">
          <a:xfrm>
            <a:off x="7004379" y="1876916"/>
            <a:ext cx="2796883" cy="1141730"/>
            <a:chOff x="0" y="0"/>
            <a:chExt cx="736628" cy="300703"/>
          </a:xfrm>
        </p:grpSpPr>
        <p:sp>
          <p:nvSpPr>
            <p:cNvPr id="12" name="Freeform 12"/>
            <p:cNvSpPr/>
            <p:nvPr/>
          </p:nvSpPr>
          <p:spPr bwMode="auto">
            <a:xfrm>
              <a:off x="0" y="0"/>
              <a:ext cx="736628" cy="300703"/>
            </a:xfrm>
            <a:custGeom>
              <a:avLst/>
              <a:gdLst/>
              <a:ahLst/>
              <a:cxnLst/>
              <a:rect l="l" t="t" r="r" b="b"/>
              <a:pathLst>
                <a:path w="736628" h="300703" fill="norm" stroke="1" extrusionOk="0">
                  <a:moveTo>
                    <a:pt x="150351" y="0"/>
                  </a:moveTo>
                  <a:lnTo>
                    <a:pt x="586276" y="0"/>
                  </a:lnTo>
                  <a:cubicBezTo>
                    <a:pt x="626152" y="0"/>
                    <a:pt x="664395" y="15841"/>
                    <a:pt x="692591" y="44037"/>
                  </a:cubicBezTo>
                  <a:cubicBezTo>
                    <a:pt x="720787" y="72233"/>
                    <a:pt x="736628" y="110476"/>
                    <a:pt x="736628" y="150351"/>
                  </a:cubicBezTo>
                  <a:lnTo>
                    <a:pt x="736628" y="150351"/>
                  </a:lnTo>
                  <a:cubicBezTo>
                    <a:pt x="736628" y="190227"/>
                    <a:pt x="720787" y="228469"/>
                    <a:pt x="692591" y="256666"/>
                  </a:cubicBezTo>
                  <a:cubicBezTo>
                    <a:pt x="664395" y="284862"/>
                    <a:pt x="626152" y="300703"/>
                    <a:pt x="586276" y="300703"/>
                  </a:cubicBezTo>
                  <a:lnTo>
                    <a:pt x="150351" y="300703"/>
                  </a:lnTo>
                  <a:cubicBezTo>
                    <a:pt x="110476" y="300703"/>
                    <a:pt x="72233" y="284862"/>
                    <a:pt x="44037" y="256666"/>
                  </a:cubicBezTo>
                  <a:cubicBezTo>
                    <a:pt x="15841" y="228469"/>
                    <a:pt x="0" y="190227"/>
                    <a:pt x="0" y="150351"/>
                  </a:cubicBezTo>
                  <a:lnTo>
                    <a:pt x="0" y="150351"/>
                  </a:lnTo>
                  <a:cubicBezTo>
                    <a:pt x="0" y="110476"/>
                    <a:pt x="15841" y="72233"/>
                    <a:pt x="44037" y="44037"/>
                  </a:cubicBezTo>
                  <a:cubicBezTo>
                    <a:pt x="72233" y="15841"/>
                    <a:pt x="110476" y="0"/>
                    <a:pt x="150351" y="0"/>
                  </a:cubicBezTo>
                  <a:close/>
                </a:path>
              </a:pathLst>
            </a:custGeom>
            <a:solidFill>
              <a:srgbClr val="98C4EC"/>
            </a:solidFill>
          </p:spPr>
          <p:txBody>
            <a:bodyPr anchor="ctr"/>
            <a:p>
              <a:pPr algn="ctr">
                <a:defRPr/>
              </a:pPr>
              <a:endParaRPr sz="1800"/>
            </a:p>
          </p:txBody>
        </p:sp>
        <p:sp>
          <p:nvSpPr>
            <p:cNvPr id="13" name="TextBox 13"/>
            <p:cNvSpPr txBox="1"/>
            <p:nvPr/>
          </p:nvSpPr>
          <p:spPr bwMode="auto">
            <a:xfrm>
              <a:off x="0" y="-57150"/>
              <a:ext cx="736628" cy="35785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defRPr/>
              </a:pPr>
              <a:r>
                <a:rPr lang="en-US" sz="3600" b="1">
                  <a:solidFill>
                    <a:srgbClr val="020202"/>
                  </a:solidFill>
                  <a:latin typeface="Caladea"/>
                  <a:ea typeface="Caladea"/>
                  <a:cs typeface="Caladea"/>
                </a:rPr>
                <a:t>GROUP 28</a:t>
              </a:r>
              <a:endParaRPr sz="1800">
                <a:latin typeface="Caladea"/>
                <a:cs typeface="Caladea"/>
              </a:endParaRPr>
            </a:p>
          </p:txBody>
        </p:sp>
      </p:grpSp>
      <p:sp>
        <p:nvSpPr>
          <p:cNvPr id="458668128" name="TextBox 14"/>
          <p:cNvSpPr txBox="1"/>
          <p:nvPr/>
        </p:nvSpPr>
        <p:spPr bwMode="auto">
          <a:xfrm flipH="0" flipV="0">
            <a:off x="1245574" y="2989044"/>
            <a:ext cx="17489174" cy="5700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94023" marR="0" lvl="1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i="0" u="none" strike="noStrike" cap="none" spc="0">
                <a:solidFill/>
                <a:latin typeface="Caladea"/>
                <a:ea typeface="Caladea"/>
                <a:cs typeface="Caladea"/>
              </a:rPr>
              <a:t>Domain :– </a:t>
            </a:r>
            <a:r>
              <a:rPr lang="en-US" sz="3600" i="0" u="none" strike="noStrike" cap="none" spc="0">
                <a:solidFill/>
                <a:latin typeface="Caladea"/>
                <a:ea typeface="Caladea"/>
                <a:cs typeface="Caladea"/>
              </a:rPr>
              <a:t>Data Science</a:t>
            </a:r>
            <a:endParaRPr lang="en-US" sz="3600" i="0" u="none" strike="noStrike" cap="none" spc="0">
              <a:solidFill/>
              <a:latin typeface="Caladea"/>
              <a:ea typeface="Caladea"/>
              <a:cs typeface="Caladea"/>
            </a:endParaRPr>
          </a:p>
          <a:p>
            <a:pPr marL="394023" marR="0" lvl="1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000" i="0" u="none" strike="noStrike" cap="none" spc="0">
              <a:solidFill/>
              <a:latin typeface="Caladea"/>
              <a:cs typeface="Caladea"/>
            </a:endParaRPr>
          </a:p>
          <a:p>
            <a:pPr marL="394023" marR="0" lvl="1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i="0" u="none" strike="noStrike" cap="none" spc="0">
                <a:solidFill/>
                <a:latin typeface="Caladea"/>
                <a:ea typeface="Caladea"/>
                <a:cs typeface="Caladea"/>
              </a:rPr>
              <a:t>Problem Statement Title:- </a:t>
            </a:r>
            <a:r>
              <a:rPr lang="en-US" sz="3600" i="0" u="none" strike="noStrike" cap="none" spc="0">
                <a:solidFill/>
                <a:latin typeface="Caladea"/>
                <a:ea typeface="Caladea"/>
                <a:cs typeface="Caladea"/>
              </a:rPr>
              <a:t>AI-Powered Urban Insights Platform</a:t>
            </a:r>
            <a:endParaRPr lang="en-US" sz="3600" i="0" u="none" strike="noStrike" cap="none" spc="0">
              <a:solidFill/>
              <a:latin typeface="Caladea"/>
              <a:ea typeface="Caladea"/>
              <a:cs typeface="Caladea"/>
            </a:endParaRPr>
          </a:p>
          <a:p>
            <a:pPr marL="394023" marR="0" lvl="1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000" i="0" u="none" strike="noStrike" cap="none" spc="0">
              <a:solidFill/>
              <a:latin typeface="Caladea"/>
              <a:cs typeface="Caladea"/>
            </a:endParaRPr>
          </a:p>
          <a:p>
            <a:pPr marL="394023" marR="0" lvl="1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i="0" u="none" strike="noStrike" cap="none" spc="0">
                <a:solidFill/>
                <a:latin typeface="Caladea"/>
                <a:ea typeface="Caladea"/>
                <a:cs typeface="Caladea"/>
              </a:rPr>
              <a:t>Team Leader Name: - </a:t>
            </a:r>
            <a:r>
              <a:rPr lang="en-US" sz="3600" i="0" u="none" strike="noStrike" cap="none" spc="0">
                <a:solidFill/>
                <a:latin typeface="Caladea"/>
                <a:ea typeface="Caladea"/>
                <a:cs typeface="Caladea"/>
              </a:rPr>
              <a:t>Prakash Gond</a:t>
            </a:r>
            <a:endParaRPr lang="en-US" sz="3600" i="0" u="none" strike="noStrike" cap="none" spc="0">
              <a:solidFill/>
              <a:latin typeface="Caladea"/>
              <a:ea typeface="Caladea"/>
              <a:cs typeface="Caladea"/>
            </a:endParaRPr>
          </a:p>
          <a:p>
            <a:pPr marL="394023" marR="0" lvl="1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000" i="0" u="none" strike="noStrike" cap="none" spc="0">
              <a:solidFill/>
              <a:latin typeface="Caladea"/>
              <a:cs typeface="Caladea"/>
            </a:endParaRPr>
          </a:p>
          <a:p>
            <a:pPr marL="394023" marR="0" lvl="1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i="0" u="none" strike="noStrike" cap="none" spc="0">
                <a:solidFill/>
                <a:latin typeface="Caladea"/>
                <a:ea typeface="Caladea"/>
                <a:cs typeface="Caladea"/>
              </a:rPr>
              <a:t>Group  No:- </a:t>
            </a:r>
            <a:r>
              <a:rPr lang="en-US" sz="3600" i="0" u="none" strike="noStrike" cap="none" spc="0">
                <a:solidFill/>
                <a:latin typeface="Caladea"/>
                <a:ea typeface="Caladea"/>
                <a:cs typeface="Caladea"/>
              </a:rPr>
              <a:t>28</a:t>
            </a:r>
            <a:endParaRPr lang="en-US" sz="3600" i="0" u="none" strike="noStrike" cap="none" spc="0">
              <a:solidFill/>
              <a:latin typeface="Caladea"/>
              <a:ea typeface="Caladea"/>
              <a:cs typeface="Caladea"/>
            </a:endParaRPr>
          </a:p>
          <a:p>
            <a:pPr marL="394023" marR="0" lvl="1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000" i="0" u="none" strike="noStrike" cap="none" spc="0">
              <a:solidFill/>
              <a:latin typeface="Caladea"/>
              <a:cs typeface="Caladea"/>
            </a:endParaRPr>
          </a:p>
          <a:p>
            <a:pPr marL="394023" marR="0" lvl="1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i="0" u="none" strike="noStrike" cap="none" spc="0">
                <a:solidFill/>
                <a:latin typeface="Caladea"/>
                <a:ea typeface="Caladea"/>
                <a:cs typeface="Caladea"/>
              </a:rPr>
              <a:t>Team Name:-</a:t>
            </a:r>
            <a:r>
              <a:rPr lang="en-US" sz="3600" i="0" u="none" strike="noStrike" cap="none" spc="0">
                <a:solidFill/>
                <a:latin typeface="Caladea"/>
                <a:ea typeface="Caladea"/>
                <a:cs typeface="Caladea"/>
              </a:rPr>
              <a:t> </a:t>
            </a:r>
            <a:r>
              <a:rPr lang="en-US" sz="3600" i="0" u="none" strike="noStrike" cap="none" spc="0">
                <a:solidFill/>
                <a:latin typeface="Caladea"/>
                <a:ea typeface="Caladea"/>
                <a:cs typeface="Caladea"/>
              </a:rPr>
              <a:t>Threads</a:t>
            </a:r>
            <a:endParaRPr lang="en-US" sz="3600" i="0" u="none" strike="noStrike" cap="none" spc="0">
              <a:solidFill/>
              <a:latin typeface="Caladea"/>
              <a:ea typeface="Caladea"/>
              <a:cs typeface="Caladea"/>
            </a:endParaRPr>
          </a:p>
          <a:p>
            <a:pPr marL="394023" marR="0" lvl="1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1000" i="0" u="none" strike="noStrike" cap="none" spc="0">
              <a:solidFill/>
              <a:latin typeface="Caladea"/>
              <a:cs typeface="Caladea"/>
            </a:endParaRPr>
          </a:p>
          <a:p>
            <a:pPr marL="394023" marR="0" lvl="1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i="0" u="none" strike="noStrike" cap="none" spc="0">
                <a:solidFill/>
                <a:latin typeface="Caladea"/>
                <a:ea typeface="Caladea"/>
                <a:cs typeface="Caladea"/>
              </a:rPr>
              <a:t>Members:- </a:t>
            </a:r>
            <a:endParaRPr lang="en-US" sz="3600" b="1" i="0" u="none" strike="noStrike" cap="none" spc="0">
              <a:solidFill/>
              <a:latin typeface="Caladea"/>
              <a:ea typeface="Caladea"/>
              <a:cs typeface="Caladea"/>
            </a:endParaRPr>
          </a:p>
          <a:p>
            <a:pPr marL="794073" marR="0" lvl="8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600" i="0" u="none" strike="noStrike" cap="none" spc="0">
                <a:solidFill/>
                <a:latin typeface="Caladea"/>
                <a:ea typeface="Caladea"/>
                <a:cs typeface="Caladea"/>
              </a:rPr>
              <a:t>Abhinay Nachankar</a:t>
            </a:r>
            <a:endParaRPr sz="3600" i="0" u="none" strike="noStrike" cap="none" spc="0">
              <a:solidFill/>
              <a:latin typeface="Caladea"/>
              <a:cs typeface="Caladea"/>
            </a:endParaRPr>
          </a:p>
          <a:p>
            <a:pPr marL="794073" marR="0" lvl="8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3600" i="0" u="none" strike="noStrike" cap="none" spc="0">
                <a:solidFill/>
                <a:latin typeface="Caladea"/>
                <a:ea typeface="Caladea"/>
                <a:cs typeface="Caladea"/>
              </a:rPr>
              <a:t>Vaishnavi Nandurkar</a:t>
            </a:r>
            <a:endParaRPr sz="3600" i="0" u="none" strike="noStrike" cap="none" spc="0">
              <a:solidFill/>
              <a:latin typeface="Caladea"/>
              <a:cs typeface="Caladea"/>
            </a:endParaRPr>
          </a:p>
          <a:p>
            <a:pPr marL="394023" marR="0" lvl="1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sz="3600" i="0" u="none" strike="noStrike" cap="none" spc="0">
              <a:solidFill/>
              <a:latin typeface="Caladea"/>
              <a:cs typeface="Caladea"/>
            </a:endParaRPr>
          </a:p>
        </p:txBody>
      </p:sp>
      <p:sp>
        <p:nvSpPr>
          <p:cNvPr id="222604990" name="TextBox 15"/>
          <p:cNvSpPr txBox="1"/>
          <p:nvPr/>
        </p:nvSpPr>
        <p:spPr bwMode="auto">
          <a:xfrm>
            <a:off x="2702935" y="9782427"/>
            <a:ext cx="9400289" cy="35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5C2D88"/>
                </a:solidFill>
                <a:latin typeface="Canva Sans Bold"/>
                <a:ea typeface="Canva Sans Bold"/>
                <a:cs typeface="Canva Sans Bold"/>
              </a:rPr>
              <a:t>Nagpur | Pune | Jalgaon | Amravati | Pandhura | Bhandara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033609" name="TextBox 2"/>
          <p:cNvSpPr txBox="1"/>
          <p:nvPr/>
        </p:nvSpPr>
        <p:spPr bwMode="auto">
          <a:xfrm>
            <a:off x="2659527" y="234783"/>
            <a:ext cx="12453542" cy="1158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21"/>
              </a:lnSpc>
              <a:defRPr/>
            </a:pPr>
            <a:r>
              <a:rPr lang="en-US" sz="4800" b="1" spc="-456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NagarMitra</a:t>
            </a:r>
            <a:endParaRPr sz="4800">
              <a:latin typeface="Caladea"/>
              <a:cs typeface="Caladea"/>
            </a:endParaRPr>
          </a:p>
        </p:txBody>
      </p:sp>
      <p:grpSp>
        <p:nvGrpSpPr>
          <p:cNvPr id="67870392" name="Group 3"/>
          <p:cNvGrpSpPr/>
          <p:nvPr/>
        </p:nvGrpSpPr>
        <p:grpSpPr bwMode="auto">
          <a:xfrm>
            <a:off x="15652205" y="9565386"/>
            <a:ext cx="2407958" cy="661283"/>
            <a:chOff x="0" y="0"/>
            <a:chExt cx="634194" cy="174165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634194" cy="174165"/>
            </a:xfrm>
            <a:custGeom>
              <a:avLst/>
              <a:gdLst/>
              <a:ahLst/>
              <a:cxnLst/>
              <a:rect l="l" t="t" r="r" b="b"/>
              <a:pathLst>
                <a:path w="634195" h="174165" fill="norm" stroke="1" extrusionOk="0">
                  <a:moveTo>
                    <a:pt x="87083" y="0"/>
                  </a:moveTo>
                  <a:lnTo>
                    <a:pt x="547112" y="0"/>
                  </a:lnTo>
                  <a:cubicBezTo>
                    <a:pt x="570208" y="0"/>
                    <a:pt x="592358" y="9175"/>
                    <a:pt x="608689" y="25506"/>
                  </a:cubicBezTo>
                  <a:cubicBezTo>
                    <a:pt x="625020" y="41837"/>
                    <a:pt x="634195" y="63987"/>
                    <a:pt x="634195" y="87083"/>
                  </a:cubicBezTo>
                  <a:lnTo>
                    <a:pt x="634195" y="87083"/>
                  </a:lnTo>
                  <a:cubicBezTo>
                    <a:pt x="634195" y="110178"/>
                    <a:pt x="625020" y="132328"/>
                    <a:pt x="608689" y="148659"/>
                  </a:cubicBezTo>
                  <a:cubicBezTo>
                    <a:pt x="592358" y="164990"/>
                    <a:pt x="570208" y="174165"/>
                    <a:pt x="547112" y="174165"/>
                  </a:cubicBezTo>
                  <a:lnTo>
                    <a:pt x="87083" y="174165"/>
                  </a:lnTo>
                  <a:cubicBezTo>
                    <a:pt x="63987" y="174165"/>
                    <a:pt x="41837" y="164990"/>
                    <a:pt x="25506" y="148659"/>
                  </a:cubicBezTo>
                  <a:cubicBezTo>
                    <a:pt x="9175" y="132328"/>
                    <a:pt x="0" y="110178"/>
                    <a:pt x="0" y="87083"/>
                  </a:cubicBezTo>
                  <a:lnTo>
                    <a:pt x="0" y="87083"/>
                  </a:lnTo>
                  <a:cubicBezTo>
                    <a:pt x="0" y="63987"/>
                    <a:pt x="9175" y="41837"/>
                    <a:pt x="25506" y="25506"/>
                  </a:cubicBezTo>
                  <a:cubicBezTo>
                    <a:pt x="41837" y="9175"/>
                    <a:pt x="63987" y="0"/>
                    <a:pt x="87083" y="0"/>
                  </a:cubicBezTo>
                  <a:close/>
                </a:path>
              </a:pathLst>
            </a:custGeom>
            <a:solidFill>
              <a:srgbClr val="98C4EC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57150"/>
              <a:ext cx="634194" cy="2313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  <a:defRPr/>
              </a:pPr>
              <a:r>
                <a:rPr lang="en-US" sz="2800" b="1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</a:rPr>
                <a:t>GROUP-28</a:t>
              </a:r>
              <a:endParaRPr/>
            </a:p>
          </p:txBody>
        </p:sp>
      </p:grpSp>
      <p:sp>
        <p:nvSpPr>
          <p:cNvPr id="1985086214" name="Freeform 6"/>
          <p:cNvSpPr/>
          <p:nvPr/>
        </p:nvSpPr>
        <p:spPr bwMode="auto">
          <a:xfrm>
            <a:off x="15457048" y="-279179"/>
            <a:ext cx="2603115" cy="2603115"/>
          </a:xfrm>
          <a:custGeom>
            <a:avLst/>
            <a:gdLst/>
            <a:ahLst/>
            <a:cxnLst/>
            <a:rect l="l" t="t" r="r" b="b"/>
            <a:pathLst>
              <a:path w="2603115" h="2603115" fill="norm" stroke="1" extrusionOk="0">
                <a:moveTo>
                  <a:pt x="0" y="0"/>
                </a:moveTo>
                <a:lnTo>
                  <a:pt x="2603114" y="0"/>
                </a:lnTo>
                <a:lnTo>
                  <a:pt x="2603114" y="2603115"/>
                </a:lnTo>
                <a:lnTo>
                  <a:pt x="0" y="26031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2680135" name="Freeform 7"/>
          <p:cNvSpPr/>
          <p:nvPr/>
        </p:nvSpPr>
        <p:spPr bwMode="auto">
          <a:xfrm>
            <a:off x="131323" y="88828"/>
            <a:ext cx="3094349" cy="1450639"/>
          </a:xfrm>
          <a:custGeom>
            <a:avLst/>
            <a:gdLst/>
            <a:ahLst/>
            <a:cxnLst/>
            <a:rect l="l" t="t" r="r" b="b"/>
            <a:pathLst>
              <a:path w="3094349" h="1450639" fill="norm" stroke="1" extrusionOk="0">
                <a:moveTo>
                  <a:pt x="0" y="0"/>
                </a:moveTo>
                <a:lnTo>
                  <a:pt x="3094349" y="0"/>
                </a:lnTo>
                <a:lnTo>
                  <a:pt x="3094349" y="1450639"/>
                </a:lnTo>
                <a:lnTo>
                  <a:pt x="0" y="14506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6398919" name="Freeform 8"/>
          <p:cNvSpPr/>
          <p:nvPr/>
        </p:nvSpPr>
        <p:spPr bwMode="auto">
          <a:xfrm>
            <a:off x="131324" y="9358753"/>
            <a:ext cx="2275834" cy="772925"/>
          </a:xfrm>
          <a:custGeom>
            <a:avLst/>
            <a:gdLst/>
            <a:ahLst/>
            <a:cxnLst/>
            <a:rect l="l" t="t" r="r" b="b"/>
            <a:pathLst>
              <a:path w="2275834" h="772925" fill="norm" stroke="1" extrusionOk="0">
                <a:moveTo>
                  <a:pt x="0" y="0"/>
                </a:moveTo>
                <a:lnTo>
                  <a:pt x="2275834" y="0"/>
                </a:lnTo>
                <a:lnTo>
                  <a:pt x="2275834" y="772925"/>
                </a:lnTo>
                <a:lnTo>
                  <a:pt x="0" y="7729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/>
          </a:blipFill>
        </p:spPr>
      </p:sp>
      <p:sp>
        <p:nvSpPr>
          <p:cNvPr id="840309245" name="AutoShape 9"/>
          <p:cNvSpPr/>
          <p:nvPr/>
        </p:nvSpPr>
        <p:spPr bwMode="auto">
          <a:xfrm>
            <a:off x="2930000" y="9696477"/>
            <a:ext cx="12198329" cy="0"/>
          </a:xfrm>
          <a:prstGeom prst="line">
            <a:avLst/>
          </a:prstGeom>
          <a:ln w="28575" cap="flat">
            <a:solidFill>
              <a:srgbClr val="AA131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40107878" name="TextBox 10"/>
          <p:cNvSpPr txBox="1"/>
          <p:nvPr/>
        </p:nvSpPr>
        <p:spPr bwMode="auto">
          <a:xfrm>
            <a:off x="1843642" y="9697590"/>
            <a:ext cx="939957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5C2D88"/>
                </a:solidFill>
                <a:latin typeface="Canva Sans Bold"/>
                <a:ea typeface="Canva Sans Bold"/>
                <a:cs typeface="Canva Sans Bold"/>
              </a:rPr>
              <a:t>Nagpur | Pune | Jalgaon | Amravati | Pandhura | Bhandara</a:t>
            </a:r>
            <a:endParaRPr/>
          </a:p>
        </p:txBody>
      </p:sp>
      <p:sp>
        <p:nvSpPr>
          <p:cNvPr id="1728393185" name="TextBox 11"/>
          <p:cNvSpPr txBox="1"/>
          <p:nvPr/>
        </p:nvSpPr>
        <p:spPr bwMode="auto">
          <a:xfrm flipH="0" flipV="0">
            <a:off x="393697" y="2052351"/>
            <a:ext cx="18100363" cy="6705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023" indent="-394023">
              <a:buFont typeface="Arial"/>
              <a:buChar char="•"/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AI-powered platform that integrates traffic, pollution, energy, transport, water, and waste data into one smart city analytics system.</a:t>
            </a:r>
            <a:endParaRPr lang="en-US" sz="2800" b="0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Uses data pipelines, machine learning, and interactive dashboards to monitor and manage urban systems.</a:t>
            </a:r>
            <a:endParaRPr lang="en-US" sz="2800" b="0" i="0" u="none" strike="noStrike" cap="none" spc="0">
              <a:solidFill>
                <a:srgbClr val="000000"/>
              </a:solidFill>
              <a:latin typeface="Caladea"/>
              <a:ea typeface="Caladea"/>
              <a:cs typeface="Caladea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Provides real-time insights, predictive analytics, and decision-support tools for city authorities.</a:t>
            </a:r>
            <a:endParaRPr lang="en-US" sz="2800" b="0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>
              <a:defRPr/>
            </a:pPr>
            <a:endParaRPr sz="1000" b="0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>
              <a:defRPr/>
            </a:pPr>
            <a:r>
              <a:rPr lang="en-US" sz="2800" b="1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How It Addresses the Problem</a:t>
            </a:r>
            <a:endParaRPr lang="en-US" sz="2800" b="0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 marL="794073" lvl="1" indent="-394023">
              <a:buFont typeface="Arial"/>
              <a:buChar char="•"/>
              <a:defRPr/>
            </a:pPr>
            <a:r>
              <a:rPr lang="en-US" sz="2800" b="1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Unified Data Platform: </a:t>
            </a:r>
            <a:r>
              <a:rPr lang="en-US" sz="2800" b="0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Aggregates fragmented urban datasets into a single system.</a:t>
            </a:r>
            <a:endParaRPr lang="en-US" sz="2800" b="0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 marL="794073" lvl="1" indent="-394023">
              <a:buFont typeface="Arial"/>
              <a:buChar char="•"/>
              <a:defRPr/>
            </a:pPr>
            <a:r>
              <a:rPr lang="en-US" sz="2800" b="1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Predictive Analytics: </a:t>
            </a:r>
            <a:r>
              <a:rPr lang="en-US" sz="2800" b="0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ML models forecast traffic congestion, pollution levels, and transport demand.</a:t>
            </a:r>
            <a:endParaRPr lang="en-US" sz="2800" b="0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 marL="794073" lvl="1" indent="-394023">
              <a:buFont typeface="Arial"/>
              <a:buChar char="•"/>
              <a:defRPr/>
            </a:pPr>
            <a:r>
              <a:rPr lang="en-US" sz="2800" b="1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Anomaly Detection: </a:t>
            </a:r>
            <a:r>
              <a:rPr lang="en-US" sz="2800" b="0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Automatically detects pollution spikes, traffic surges, and energy overconsumption.</a:t>
            </a:r>
            <a:endParaRPr lang="en-US" sz="2800" b="0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 marL="794073" lvl="1" indent="-394023">
              <a:buFont typeface="Arial"/>
              <a:buChar char="•"/>
              <a:defRPr/>
            </a:pPr>
            <a:r>
              <a:rPr lang="en-US" sz="2800" b="1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Policy Simulation: </a:t>
            </a:r>
            <a:r>
              <a:rPr lang="en-US" sz="2800" b="0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Allows planners to test interventions (e.g., reduce traffic by 20%) and evaluate their impact.</a:t>
            </a:r>
            <a:endParaRPr lang="en-US" sz="2800" b="0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 marL="794073" lvl="1" indent="-394023">
              <a:buFont typeface="Arial"/>
              <a:buChar char="•"/>
              <a:defRPr/>
            </a:pPr>
            <a:r>
              <a:rPr lang="en-US" sz="2800" b="1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Interactive Dashboard: </a:t>
            </a:r>
            <a:r>
              <a:rPr lang="en-US" sz="2800" b="0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Real-time maps, alerts, and analytics for faster decision-making.</a:t>
            </a:r>
            <a:endParaRPr/>
          </a:p>
          <a:p>
            <a:pPr lvl="1">
              <a:defRPr/>
            </a:pPr>
            <a:endParaRPr sz="1000" b="0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>
              <a:defRPr/>
            </a:pPr>
            <a:r>
              <a:rPr lang="en-US" sz="2800" b="1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Innovation &amp; Uniqueness</a:t>
            </a:r>
            <a:endParaRPr lang="en-US" sz="2800" b="0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 marL="794073" lvl="1" indent="-394023">
              <a:buFont typeface="Arial"/>
              <a:buChar char="•"/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Integrated Smart City Digital Twin combining multiple urban domains.</a:t>
            </a:r>
            <a:endParaRPr lang="en-US" sz="2800" b="0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 marL="794073" lvl="1" indent="-394023">
              <a:buFont typeface="Arial"/>
              <a:buChar char="•"/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AI-driven decision support (predictions + alerts + simulations).</a:t>
            </a:r>
            <a:endParaRPr lang="en-US" sz="2800" b="0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 marL="794073" lvl="1" indent="-394023">
              <a:buFont typeface="Arial"/>
              <a:buChar char="•"/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Ai-chatbot using vector-less RAG.</a:t>
            </a:r>
            <a:endParaRPr lang="en-US" sz="2800" b="0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 marL="794073" lvl="1" indent="-394023">
              <a:buFont typeface="Arial"/>
              <a:buChar char="•"/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Modular architecture enabling scalable and rapid development.</a:t>
            </a:r>
            <a:endParaRPr lang="en-US" sz="2800" b="0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</p:txBody>
      </p:sp>
      <p:sp>
        <p:nvSpPr>
          <p:cNvPr id="122321409" name="Freeform 12"/>
          <p:cNvSpPr/>
          <p:nvPr/>
        </p:nvSpPr>
        <p:spPr bwMode="auto">
          <a:xfrm>
            <a:off x="4267200" y="1957842"/>
            <a:ext cx="9228841" cy="6523595"/>
          </a:xfrm>
          <a:custGeom>
            <a:avLst/>
            <a:gdLst/>
            <a:ahLst/>
            <a:cxnLst/>
            <a:rect l="l" t="t" r="r" b="b"/>
            <a:pathLst>
              <a:path w="9228841" h="6523595" fill="norm" stroke="1" extrusionOk="0">
                <a:moveTo>
                  <a:pt x="0" y="0"/>
                </a:moveTo>
                <a:lnTo>
                  <a:pt x="9228841" y="0"/>
                </a:lnTo>
                <a:lnTo>
                  <a:pt x="9228841" y="6523596"/>
                </a:lnTo>
                <a:lnTo>
                  <a:pt x="0" y="65235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999"/>
            </a:blip>
            <a:stretch>
              <a:fillRect l="-3515" t="-23221" r="0" b="-23221"/>
            </a:stretch>
          </a:blipFill>
        </p:spPr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7372406" name="TextBox 2"/>
          <p:cNvSpPr txBox="1"/>
          <p:nvPr/>
        </p:nvSpPr>
        <p:spPr bwMode="auto">
          <a:xfrm>
            <a:off x="3011783" y="395526"/>
            <a:ext cx="12445263" cy="97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81"/>
              </a:lnSpc>
              <a:defRPr/>
            </a:pPr>
            <a:r>
              <a:rPr lang="en-US" sz="4800" b="1" spc="-383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FEASIBILITY AND VIABILITY</a:t>
            </a:r>
            <a:endParaRPr sz="4800">
              <a:latin typeface="Caladea"/>
              <a:cs typeface="Caladea"/>
            </a:endParaRPr>
          </a:p>
        </p:txBody>
      </p:sp>
      <p:grpSp>
        <p:nvGrpSpPr>
          <p:cNvPr id="2142264602" name="Group 3"/>
          <p:cNvGrpSpPr/>
          <p:nvPr/>
        </p:nvGrpSpPr>
        <p:grpSpPr bwMode="auto">
          <a:xfrm>
            <a:off x="15652205" y="9565386"/>
            <a:ext cx="2407958" cy="661283"/>
            <a:chOff x="0" y="0"/>
            <a:chExt cx="634194" cy="174165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634194" cy="174165"/>
            </a:xfrm>
            <a:custGeom>
              <a:avLst/>
              <a:gdLst/>
              <a:ahLst/>
              <a:cxnLst/>
              <a:rect l="l" t="t" r="r" b="b"/>
              <a:pathLst>
                <a:path w="634195" h="174165" fill="norm" stroke="1" extrusionOk="0">
                  <a:moveTo>
                    <a:pt x="87083" y="0"/>
                  </a:moveTo>
                  <a:lnTo>
                    <a:pt x="547112" y="0"/>
                  </a:lnTo>
                  <a:cubicBezTo>
                    <a:pt x="570208" y="0"/>
                    <a:pt x="592358" y="9175"/>
                    <a:pt x="608689" y="25506"/>
                  </a:cubicBezTo>
                  <a:cubicBezTo>
                    <a:pt x="625020" y="41837"/>
                    <a:pt x="634195" y="63987"/>
                    <a:pt x="634195" y="87083"/>
                  </a:cubicBezTo>
                  <a:lnTo>
                    <a:pt x="634195" y="87083"/>
                  </a:lnTo>
                  <a:cubicBezTo>
                    <a:pt x="634195" y="110178"/>
                    <a:pt x="625020" y="132328"/>
                    <a:pt x="608689" y="148659"/>
                  </a:cubicBezTo>
                  <a:cubicBezTo>
                    <a:pt x="592358" y="164990"/>
                    <a:pt x="570208" y="174165"/>
                    <a:pt x="547112" y="174165"/>
                  </a:cubicBezTo>
                  <a:lnTo>
                    <a:pt x="87083" y="174165"/>
                  </a:lnTo>
                  <a:cubicBezTo>
                    <a:pt x="63987" y="174165"/>
                    <a:pt x="41837" y="164990"/>
                    <a:pt x="25506" y="148659"/>
                  </a:cubicBezTo>
                  <a:cubicBezTo>
                    <a:pt x="9175" y="132328"/>
                    <a:pt x="0" y="110178"/>
                    <a:pt x="0" y="87083"/>
                  </a:cubicBezTo>
                  <a:lnTo>
                    <a:pt x="0" y="87083"/>
                  </a:lnTo>
                  <a:cubicBezTo>
                    <a:pt x="0" y="63987"/>
                    <a:pt x="9175" y="41837"/>
                    <a:pt x="25506" y="25506"/>
                  </a:cubicBezTo>
                  <a:cubicBezTo>
                    <a:pt x="41837" y="9175"/>
                    <a:pt x="63987" y="0"/>
                    <a:pt x="87083" y="0"/>
                  </a:cubicBezTo>
                  <a:close/>
                </a:path>
              </a:pathLst>
            </a:custGeom>
            <a:solidFill>
              <a:srgbClr val="98C4EC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57150"/>
              <a:ext cx="634194" cy="2313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  <a:defRPr/>
              </a:pPr>
              <a:r>
                <a:rPr lang="en-US" sz="2800" b="1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</a:rPr>
                <a:t>GROUP-28</a:t>
              </a:r>
              <a:endParaRPr/>
            </a:p>
          </p:txBody>
        </p:sp>
      </p:grpSp>
      <p:sp>
        <p:nvSpPr>
          <p:cNvPr id="437181471" name="Freeform 8"/>
          <p:cNvSpPr/>
          <p:nvPr/>
        </p:nvSpPr>
        <p:spPr bwMode="auto">
          <a:xfrm>
            <a:off x="131324" y="9358753"/>
            <a:ext cx="2275834" cy="772925"/>
          </a:xfrm>
          <a:custGeom>
            <a:avLst/>
            <a:gdLst/>
            <a:ahLst/>
            <a:cxnLst/>
            <a:rect l="l" t="t" r="r" b="b"/>
            <a:pathLst>
              <a:path w="2275834" h="772925" fill="norm" stroke="1" extrusionOk="0">
                <a:moveTo>
                  <a:pt x="0" y="0"/>
                </a:moveTo>
                <a:lnTo>
                  <a:pt x="2275834" y="0"/>
                </a:lnTo>
                <a:lnTo>
                  <a:pt x="2275834" y="772925"/>
                </a:lnTo>
                <a:lnTo>
                  <a:pt x="0" y="7729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</p:sp>
      <p:sp>
        <p:nvSpPr>
          <p:cNvPr id="1329223636" name="AutoShape 9"/>
          <p:cNvSpPr/>
          <p:nvPr/>
        </p:nvSpPr>
        <p:spPr bwMode="auto">
          <a:xfrm>
            <a:off x="2930000" y="9696477"/>
            <a:ext cx="12198329" cy="0"/>
          </a:xfrm>
          <a:prstGeom prst="line">
            <a:avLst/>
          </a:prstGeom>
          <a:ln w="28575" cap="flat">
            <a:solidFill>
              <a:srgbClr val="AA131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67423427" name="TextBox 10"/>
          <p:cNvSpPr txBox="1"/>
          <p:nvPr/>
        </p:nvSpPr>
        <p:spPr bwMode="auto">
          <a:xfrm>
            <a:off x="1843642" y="9697590"/>
            <a:ext cx="939957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5C2D88"/>
                </a:solidFill>
                <a:latin typeface="Canva Sans Bold"/>
                <a:ea typeface="Canva Sans Bold"/>
                <a:cs typeface="Canva Sans Bold"/>
              </a:rPr>
              <a:t>Nagpur | Pune | Jalgaon | Amravati | Pandhura | Bhandara</a:t>
            </a:r>
            <a:endParaRPr/>
          </a:p>
        </p:txBody>
      </p:sp>
      <p:sp>
        <p:nvSpPr>
          <p:cNvPr id="963987797" name="TextBox 11"/>
          <p:cNvSpPr txBox="1"/>
          <p:nvPr/>
        </p:nvSpPr>
        <p:spPr bwMode="auto">
          <a:xfrm flipH="0" flipV="0">
            <a:off x="480476" y="1733295"/>
            <a:ext cx="17194307" cy="7163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023" indent="-394023">
              <a:buFont typeface="Arial"/>
              <a:buChar char="•"/>
              <a:defRPr/>
            </a:pPr>
            <a:r>
              <a:rPr lang="en-US" sz="2800" b="1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Feasibility of the Idea</a:t>
            </a:r>
            <a:endParaRPr sz="2800" b="1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 marL="394023" indent="-394023">
              <a:buFont typeface="Arial"/>
              <a:buChar char="•"/>
              <a:defRPr/>
            </a:pPr>
            <a:endParaRPr sz="1000" b="0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 marL="794073" lvl="1" indent="-394023">
              <a:buFont typeface="Courier New"/>
              <a:buChar char="o"/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Uses widely available technologies (Python, FastAPI, ML models, Streamlit, Firebase).</a:t>
            </a:r>
            <a:endParaRPr sz="2800" b="0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 marL="794073" lvl="1" indent="-394023">
              <a:buFont typeface="Courier New"/>
              <a:buChar char="o"/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Can operate with synthetic or open urban datasets for prototyping.</a:t>
            </a:r>
            <a:endParaRPr sz="2800" b="0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 marL="794073" lvl="1" indent="-394023">
              <a:buFont typeface="Courier New"/>
              <a:buChar char="o"/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Modular architecture allows parallel development and easy integration.</a:t>
            </a:r>
            <a:endParaRPr sz="2800" b="0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 marL="794073" lvl="1" indent="-394023">
              <a:buFont typeface="Courier New"/>
              <a:buChar char="o"/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Scalable design suitable for future real-world smart city deployments.</a:t>
            </a:r>
            <a:endParaRPr sz="2800">
              <a:latin typeface="Caladea"/>
              <a:cs typeface="Caladea"/>
            </a:endParaRPr>
          </a:p>
          <a:p>
            <a:pPr>
              <a:defRPr/>
            </a:pPr>
            <a:endParaRPr sz="1000" b="0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lang="en-US" sz="2800" b="1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Potential Challenges &amp; Risks</a:t>
            </a:r>
            <a:endParaRPr sz="2800" b="1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>
              <a:defRPr/>
            </a:pPr>
            <a:endParaRPr sz="1000" b="0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 marL="794073" lvl="1" indent="-394023">
              <a:buFont typeface="Courier New"/>
              <a:buChar char="o"/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Limited availability of real-time city data from sensors and authorities.</a:t>
            </a:r>
            <a:endParaRPr sz="2800" b="0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 marL="794073" lvl="1" indent="-394023">
              <a:buFont typeface="Courier New"/>
              <a:buChar char="o"/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Data quality issues (missing, noisy, or inconsistent datasets).</a:t>
            </a:r>
            <a:endParaRPr sz="2800" b="0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 marL="794073" lvl="1" indent="-394023">
              <a:buFont typeface="Courier New"/>
              <a:buChar char="o"/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Model accuracy limitations due to synthetic or limited training data.</a:t>
            </a:r>
            <a:endParaRPr sz="2800" b="0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 marL="794073" lvl="1" indent="-394023">
              <a:buFont typeface="Courier New"/>
              <a:buChar char="o"/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System integration complexity across data pipeline, ML models, and dashboard.</a:t>
            </a:r>
            <a:endParaRPr sz="2800">
              <a:latin typeface="Caladea"/>
              <a:cs typeface="Caladea"/>
            </a:endParaRPr>
          </a:p>
          <a:p>
            <a:pPr>
              <a:defRPr/>
            </a:pPr>
            <a:endParaRPr sz="1000" b="0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lang="en-US" sz="2800" b="1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Strategies to Overcome Challenges</a:t>
            </a:r>
            <a:endParaRPr sz="2800" b="1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>
              <a:defRPr/>
            </a:pPr>
            <a:endParaRPr sz="1000" b="0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 marL="794073" lvl="1" indent="-394023">
              <a:buFont typeface="Courier New"/>
              <a:buChar char="o"/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Use public datasets and simulated IoT streams during development.</a:t>
            </a:r>
            <a:endParaRPr sz="2800" b="0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 marL="794073" lvl="1" indent="-394023">
              <a:buFont typeface="Courier New"/>
              <a:buChar char="o"/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Implement data cleaning, validation, and normalization pipelines.</a:t>
            </a:r>
            <a:endParaRPr sz="2800" b="0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 marL="794073" lvl="1" indent="-394023">
              <a:buFont typeface="Courier New"/>
              <a:buChar char="o"/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Continuously retrain models with real datasets as they become available.</a:t>
            </a:r>
            <a:endParaRPr sz="2800">
              <a:latin typeface="Caladea"/>
              <a:cs typeface="Caladea"/>
            </a:endParaRPr>
          </a:p>
          <a:p>
            <a:pPr marL="794073" lvl="1" indent="-394023">
              <a:buFont typeface="Courier New"/>
              <a:buChar char="o"/>
              <a:defRPr/>
            </a:pPr>
            <a:r>
              <a:rPr lang="en-US" sz="2800" b="0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Follow clear API contracts and modular architecture for smooth integration.</a:t>
            </a:r>
            <a:endParaRPr sz="2800" b="0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</p:txBody>
      </p:sp>
      <p:sp>
        <p:nvSpPr>
          <p:cNvPr id="1978646127" name="Freeform 12"/>
          <p:cNvSpPr/>
          <p:nvPr/>
        </p:nvSpPr>
        <p:spPr bwMode="auto">
          <a:xfrm>
            <a:off x="4288580" y="2125105"/>
            <a:ext cx="9228841" cy="6523595"/>
          </a:xfrm>
          <a:custGeom>
            <a:avLst/>
            <a:gdLst/>
            <a:ahLst/>
            <a:cxnLst/>
            <a:rect l="l" t="t" r="r" b="b"/>
            <a:pathLst>
              <a:path w="9228841" h="6523595" fill="norm" stroke="1" extrusionOk="0">
                <a:moveTo>
                  <a:pt x="0" y="0"/>
                </a:moveTo>
                <a:lnTo>
                  <a:pt x="9228841" y="0"/>
                </a:lnTo>
                <a:lnTo>
                  <a:pt x="9228841" y="6523596"/>
                </a:lnTo>
                <a:lnTo>
                  <a:pt x="0" y="65235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999"/>
            </a:blip>
            <a:stretch>
              <a:fillRect l="-3515" t="-23221" r="0" b="-23221"/>
            </a:stretch>
          </a:blipFill>
        </p:spPr>
      </p:sp>
      <p:sp>
        <p:nvSpPr>
          <p:cNvPr id="1931144326" name="Freeform 6"/>
          <p:cNvSpPr/>
          <p:nvPr/>
        </p:nvSpPr>
        <p:spPr bwMode="auto">
          <a:xfrm>
            <a:off x="15457048" y="-279179"/>
            <a:ext cx="2603115" cy="2603115"/>
          </a:xfrm>
          <a:custGeom>
            <a:avLst/>
            <a:gdLst/>
            <a:ahLst/>
            <a:cxnLst/>
            <a:rect l="l" t="t" r="r" b="b"/>
            <a:pathLst>
              <a:path w="2603115" h="2603115" fill="norm" stroke="1" extrusionOk="0">
                <a:moveTo>
                  <a:pt x="0" y="0"/>
                </a:moveTo>
                <a:lnTo>
                  <a:pt x="2603114" y="0"/>
                </a:lnTo>
                <a:lnTo>
                  <a:pt x="2603114" y="2603115"/>
                </a:lnTo>
                <a:lnTo>
                  <a:pt x="0" y="26031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66213035" name="Freeform 7"/>
          <p:cNvSpPr/>
          <p:nvPr/>
        </p:nvSpPr>
        <p:spPr bwMode="auto">
          <a:xfrm>
            <a:off x="131323" y="158130"/>
            <a:ext cx="3094349" cy="1450639"/>
          </a:xfrm>
          <a:custGeom>
            <a:avLst/>
            <a:gdLst/>
            <a:ahLst/>
            <a:cxnLst/>
            <a:rect l="l" t="t" r="r" b="b"/>
            <a:pathLst>
              <a:path w="3094349" h="1450639" fill="norm" stroke="1" extrusionOk="0">
                <a:moveTo>
                  <a:pt x="0" y="0"/>
                </a:moveTo>
                <a:lnTo>
                  <a:pt x="3094349" y="0"/>
                </a:lnTo>
                <a:lnTo>
                  <a:pt x="3094349" y="1450639"/>
                </a:lnTo>
                <a:lnTo>
                  <a:pt x="0" y="14506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24321572" name="Group 3"/>
          <p:cNvGrpSpPr/>
          <p:nvPr/>
        </p:nvGrpSpPr>
        <p:grpSpPr bwMode="auto">
          <a:xfrm>
            <a:off x="15652205" y="9565386"/>
            <a:ext cx="2407958" cy="661283"/>
            <a:chOff x="0" y="0"/>
            <a:chExt cx="634194" cy="174165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634194" cy="174165"/>
            </a:xfrm>
            <a:custGeom>
              <a:avLst/>
              <a:gdLst/>
              <a:ahLst/>
              <a:cxnLst/>
              <a:rect l="l" t="t" r="r" b="b"/>
              <a:pathLst>
                <a:path w="634195" h="174165" fill="norm" stroke="1" extrusionOk="0">
                  <a:moveTo>
                    <a:pt x="87083" y="0"/>
                  </a:moveTo>
                  <a:lnTo>
                    <a:pt x="547112" y="0"/>
                  </a:lnTo>
                  <a:cubicBezTo>
                    <a:pt x="570208" y="0"/>
                    <a:pt x="592358" y="9175"/>
                    <a:pt x="608689" y="25506"/>
                  </a:cubicBezTo>
                  <a:cubicBezTo>
                    <a:pt x="625020" y="41837"/>
                    <a:pt x="634195" y="63987"/>
                    <a:pt x="634195" y="87083"/>
                  </a:cubicBezTo>
                  <a:lnTo>
                    <a:pt x="634195" y="87083"/>
                  </a:lnTo>
                  <a:cubicBezTo>
                    <a:pt x="634195" y="110178"/>
                    <a:pt x="625020" y="132328"/>
                    <a:pt x="608689" y="148659"/>
                  </a:cubicBezTo>
                  <a:cubicBezTo>
                    <a:pt x="592358" y="164990"/>
                    <a:pt x="570208" y="174165"/>
                    <a:pt x="547112" y="174165"/>
                  </a:cubicBezTo>
                  <a:lnTo>
                    <a:pt x="87083" y="174165"/>
                  </a:lnTo>
                  <a:cubicBezTo>
                    <a:pt x="63987" y="174165"/>
                    <a:pt x="41837" y="164990"/>
                    <a:pt x="25506" y="148659"/>
                  </a:cubicBezTo>
                  <a:cubicBezTo>
                    <a:pt x="9175" y="132328"/>
                    <a:pt x="0" y="110178"/>
                    <a:pt x="0" y="87083"/>
                  </a:cubicBezTo>
                  <a:lnTo>
                    <a:pt x="0" y="87083"/>
                  </a:lnTo>
                  <a:cubicBezTo>
                    <a:pt x="0" y="63987"/>
                    <a:pt x="9175" y="41837"/>
                    <a:pt x="25506" y="25506"/>
                  </a:cubicBezTo>
                  <a:cubicBezTo>
                    <a:pt x="41837" y="9175"/>
                    <a:pt x="63987" y="0"/>
                    <a:pt x="87083" y="0"/>
                  </a:cubicBezTo>
                  <a:close/>
                </a:path>
              </a:pathLst>
            </a:custGeom>
            <a:solidFill>
              <a:srgbClr val="98C4EC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57150"/>
              <a:ext cx="634194" cy="2313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  <a:defRPr/>
              </a:pPr>
              <a:r>
                <a:rPr lang="en-US" sz="2800" b="1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</a:rPr>
                <a:t>GROUP-28</a:t>
              </a:r>
              <a:endParaRPr/>
            </a:p>
          </p:txBody>
        </p:sp>
      </p:grpSp>
      <p:sp>
        <p:nvSpPr>
          <p:cNvPr id="1974597349" name="Freeform 8"/>
          <p:cNvSpPr/>
          <p:nvPr/>
        </p:nvSpPr>
        <p:spPr bwMode="auto">
          <a:xfrm>
            <a:off x="131324" y="9358753"/>
            <a:ext cx="2275834" cy="772925"/>
          </a:xfrm>
          <a:custGeom>
            <a:avLst/>
            <a:gdLst/>
            <a:ahLst/>
            <a:cxnLst/>
            <a:rect l="l" t="t" r="r" b="b"/>
            <a:pathLst>
              <a:path w="2275834" h="772925" fill="norm" stroke="1" extrusionOk="0">
                <a:moveTo>
                  <a:pt x="0" y="0"/>
                </a:moveTo>
                <a:lnTo>
                  <a:pt x="2275834" y="0"/>
                </a:lnTo>
                <a:lnTo>
                  <a:pt x="2275834" y="772925"/>
                </a:lnTo>
                <a:lnTo>
                  <a:pt x="0" y="7729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</p:sp>
      <p:sp>
        <p:nvSpPr>
          <p:cNvPr id="1308591736" name="AutoShape 9"/>
          <p:cNvSpPr/>
          <p:nvPr/>
        </p:nvSpPr>
        <p:spPr bwMode="auto">
          <a:xfrm>
            <a:off x="2930000" y="9696477"/>
            <a:ext cx="12198329" cy="0"/>
          </a:xfrm>
          <a:prstGeom prst="line">
            <a:avLst/>
          </a:prstGeom>
          <a:ln w="28575" cap="flat">
            <a:solidFill>
              <a:srgbClr val="AA131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49934361" name="TextBox 10"/>
          <p:cNvSpPr txBox="1"/>
          <p:nvPr/>
        </p:nvSpPr>
        <p:spPr bwMode="auto">
          <a:xfrm>
            <a:off x="1843642" y="9697590"/>
            <a:ext cx="939957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5C2D88"/>
                </a:solidFill>
                <a:latin typeface="Canva Sans Bold"/>
                <a:ea typeface="Canva Sans Bold"/>
                <a:cs typeface="Canva Sans Bold"/>
              </a:rPr>
              <a:t>Nagpur | Pune | Jalgaon | Amravati | Pandhura | Bhandara</a:t>
            </a:r>
            <a:endParaRPr/>
          </a:p>
        </p:txBody>
      </p:sp>
      <p:sp>
        <p:nvSpPr>
          <p:cNvPr id="1384942774" name="TextBox 11"/>
          <p:cNvSpPr txBox="1"/>
          <p:nvPr/>
        </p:nvSpPr>
        <p:spPr bwMode="auto">
          <a:xfrm flipH="0" flipV="0">
            <a:off x="295030" y="2071460"/>
            <a:ext cx="12847804" cy="7254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023" marR="0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800" b="1" i="0" u="none" strike="noStrike" cap="none" spc="0">
                <a:solidFill/>
                <a:latin typeface="Caladea"/>
                <a:ea typeface="Caladea"/>
                <a:cs typeface="Caladea"/>
              </a:rPr>
              <a:t>Potential Impact on Target Audience</a:t>
            </a:r>
            <a:endParaRPr lang="en-US" sz="2800" i="0" u="none" strike="noStrike" cap="none" spc="0">
              <a:solidFill/>
              <a:latin typeface="Caladea"/>
              <a:cs typeface="Caladea"/>
            </a:endParaRPr>
          </a:p>
          <a:p>
            <a:pPr marL="794073" marR="0" lvl="1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/>
              <a:buChar char="o"/>
              <a:defRPr/>
            </a:pPr>
            <a:r>
              <a:rPr lang="en-US" sz="2800" i="0" u="none" strike="noStrike" cap="none" spc="0">
                <a:solidFill/>
                <a:latin typeface="Caladea"/>
                <a:ea typeface="Caladea"/>
                <a:cs typeface="Caladea"/>
              </a:rPr>
              <a:t>Enables city authorities and planners to make faster, data-driven decisions.</a:t>
            </a:r>
            <a:endParaRPr lang="en-US" sz="2800" i="0" u="none" strike="noStrike" cap="none" spc="0">
              <a:solidFill/>
              <a:latin typeface="Caladea"/>
              <a:cs typeface="Caladea"/>
            </a:endParaRPr>
          </a:p>
          <a:p>
            <a:pPr marL="794073" marR="0" lvl="1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/>
              <a:buChar char="o"/>
              <a:defRPr/>
            </a:pPr>
            <a:r>
              <a:rPr lang="en-US" sz="2800" i="0" u="none" strike="noStrike" cap="none" spc="0">
                <a:solidFill/>
                <a:latin typeface="Caladea"/>
                <a:ea typeface="Caladea"/>
                <a:cs typeface="Caladea"/>
              </a:rPr>
              <a:t>Helps transport and infrastructure departments monitor congestion and resource usage.</a:t>
            </a:r>
            <a:endParaRPr lang="en-US" sz="2800" i="0" u="none" strike="noStrike" cap="none" spc="0">
              <a:solidFill/>
              <a:latin typeface="Caladea"/>
              <a:cs typeface="Caladea"/>
            </a:endParaRPr>
          </a:p>
          <a:p>
            <a:pPr marL="794073" marR="0" lvl="1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/>
              <a:buChar char="o"/>
              <a:defRPr/>
            </a:pPr>
            <a:r>
              <a:rPr lang="en-US" sz="2800" i="0" u="none" strike="noStrike" cap="none" spc="0">
                <a:solidFill/>
                <a:latin typeface="Caladea"/>
                <a:ea typeface="Caladea"/>
                <a:cs typeface="Caladea"/>
              </a:rPr>
              <a:t>Improves public awareness and transparency through accessible city analytics.</a:t>
            </a:r>
            <a:endParaRPr lang="en-US" sz="2800" i="0" u="none" strike="noStrike" cap="none" spc="0">
              <a:solidFill/>
              <a:latin typeface="Caladea"/>
              <a:cs typeface="Caladea"/>
            </a:endParaRPr>
          </a:p>
          <a:p>
            <a:pPr marL="794073" marR="0" lvl="1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/>
              <a:buChar char="o"/>
              <a:defRPr/>
            </a:pPr>
            <a:r>
              <a:rPr lang="en-US" sz="2800" i="0" u="none" strike="noStrike" cap="none" spc="0">
                <a:solidFill/>
                <a:latin typeface="Caladea"/>
                <a:ea typeface="Caladea"/>
                <a:cs typeface="Caladea"/>
              </a:rPr>
              <a:t>Supports policy makers in evaluating urban interventions before implementation.</a:t>
            </a:r>
            <a:endParaRPr lang="en-US" sz="2800" i="0" u="none" strike="noStrike" cap="none" spc="0">
              <a:solidFill/>
              <a:latin typeface="Caladea"/>
              <a:cs typeface="Caladea"/>
            </a:endParaRPr>
          </a:p>
          <a:p>
            <a:pPr marL="394023" marR="0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800" i="0" u="none" strike="noStrike" cap="none" spc="0">
              <a:solidFill/>
              <a:latin typeface="Caladea"/>
              <a:cs typeface="Caladea"/>
            </a:endParaRPr>
          </a:p>
          <a:p>
            <a:pPr marL="394023" marR="0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800" b="1" i="0" u="none" strike="noStrike" cap="none" spc="0">
                <a:solidFill/>
                <a:latin typeface="Caladea"/>
                <a:ea typeface="Caladea"/>
                <a:cs typeface="Caladea"/>
              </a:rPr>
              <a:t>Benefits of the Solution</a:t>
            </a:r>
            <a:endParaRPr lang="en-US" sz="2800" i="0" u="none" strike="noStrike" cap="none" spc="0">
              <a:solidFill/>
              <a:latin typeface="Caladea"/>
              <a:cs typeface="Caladea"/>
            </a:endParaRPr>
          </a:p>
          <a:p>
            <a:pPr marL="794073" marR="0" lvl="1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/>
              <a:buChar char="o"/>
              <a:defRPr/>
            </a:pPr>
            <a:r>
              <a:rPr lang="en-US" sz="2800" b="1" i="0" u="none" strike="noStrike" cap="none" spc="0">
                <a:solidFill/>
                <a:latin typeface="Caladea"/>
                <a:ea typeface="Caladea"/>
                <a:cs typeface="Caladea"/>
              </a:rPr>
              <a:t>Social: </a:t>
            </a:r>
            <a:r>
              <a:rPr lang="en-US" sz="2800" i="0" u="none" strike="noStrike" cap="none" spc="0">
                <a:solidFill/>
                <a:latin typeface="Caladea"/>
                <a:ea typeface="Caladea"/>
                <a:cs typeface="Caladea"/>
              </a:rPr>
              <a:t>Improved urban mobility, better air quality, and enhanced quality of life.</a:t>
            </a:r>
            <a:endParaRPr lang="en-US" sz="2800" i="0" u="none" strike="noStrike" cap="none" spc="0">
              <a:solidFill/>
              <a:latin typeface="Caladea"/>
              <a:cs typeface="Caladea"/>
            </a:endParaRPr>
          </a:p>
          <a:p>
            <a:pPr marL="794073" marR="0" lvl="1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/>
              <a:buChar char="o"/>
              <a:defRPr/>
            </a:pPr>
            <a:r>
              <a:rPr lang="en-US" sz="2800" b="1" i="0" u="none" strike="noStrike" cap="none" spc="0">
                <a:solidFill/>
                <a:latin typeface="Caladea"/>
                <a:ea typeface="Caladea"/>
                <a:cs typeface="Caladea"/>
              </a:rPr>
              <a:t>Economic: </a:t>
            </a:r>
            <a:r>
              <a:rPr lang="en-US" sz="2800" i="0" u="none" strike="noStrike" cap="none" spc="0">
                <a:solidFill/>
                <a:latin typeface="Caladea"/>
                <a:ea typeface="Caladea"/>
                <a:cs typeface="Caladea"/>
              </a:rPr>
              <a:t>Optimized resource usage and reduced costs from traffic congestion and energy waste.</a:t>
            </a:r>
            <a:endParaRPr lang="en-US" sz="2800" i="0" u="none" strike="noStrike" cap="none" spc="0">
              <a:solidFill/>
              <a:latin typeface="Caladea"/>
              <a:cs typeface="Caladea"/>
            </a:endParaRPr>
          </a:p>
          <a:p>
            <a:pPr marL="794073" marR="0" lvl="1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/>
              <a:buChar char="o"/>
              <a:defRPr/>
            </a:pPr>
            <a:r>
              <a:rPr lang="en-US" sz="2800" b="1" i="0" u="none" strike="noStrike" cap="none" spc="0">
                <a:solidFill/>
                <a:latin typeface="Caladea"/>
                <a:ea typeface="Caladea"/>
                <a:cs typeface="Caladea"/>
              </a:rPr>
              <a:t>Environmental: </a:t>
            </a:r>
            <a:r>
              <a:rPr lang="en-US" sz="2800" i="0" u="none" strike="noStrike" cap="none" spc="0">
                <a:solidFill/>
                <a:latin typeface="Caladea"/>
                <a:ea typeface="Caladea"/>
                <a:cs typeface="Caladea"/>
              </a:rPr>
              <a:t>Lower pollution levels through smarter traffic and energy management.</a:t>
            </a:r>
            <a:endParaRPr lang="en-US" sz="2800" i="0" u="none" strike="noStrike" cap="none" spc="0">
              <a:solidFill/>
              <a:latin typeface="Caladea"/>
              <a:ea typeface="Caladea"/>
              <a:cs typeface="Caladea"/>
            </a:endParaRPr>
          </a:p>
          <a:p>
            <a:pPr marL="794073" marR="0" lvl="1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ourier New"/>
              <a:buChar char="o"/>
              <a:defRPr/>
            </a:pPr>
            <a:r>
              <a:rPr lang="en-US" sz="2800" b="1" i="0" u="none" strike="noStrike" cap="none" spc="0">
                <a:solidFill/>
                <a:latin typeface="Caladea"/>
                <a:ea typeface="Caladea"/>
                <a:cs typeface="Caladea"/>
              </a:rPr>
              <a:t>Operational: </a:t>
            </a:r>
            <a:r>
              <a:rPr lang="en-US" sz="2800" i="0" u="none" strike="noStrike" cap="none" spc="0">
                <a:solidFill/>
                <a:latin typeface="Caladea"/>
                <a:ea typeface="Caladea"/>
                <a:cs typeface="Caladea"/>
              </a:rPr>
              <a:t>Real-time alerts and predictive insights enable proactive </a:t>
            </a:r>
            <a:r>
              <a:rPr lang="en-US" sz="2800" b="0" i="0" u="none" strike="noStrike" cap="none" spc="0">
                <a:solidFill/>
                <a:latin typeface="Caladea"/>
                <a:ea typeface="Caladea"/>
                <a:cs typeface="Caladea"/>
              </a:rPr>
              <a:t>city </a:t>
            </a:r>
            <a:r>
              <a:rPr lang="en-US" sz="2800" b="0" i="0" u="none" strike="noStrike" cap="none" spc="0">
                <a:solidFill/>
                <a:latin typeface="Caladea"/>
                <a:ea typeface="Caladea"/>
                <a:cs typeface="Caladea"/>
              </a:rPr>
              <a:t>m</a:t>
            </a:r>
            <a:r>
              <a:rPr lang="en-US" sz="2800" b="0" i="0" u="none" strike="noStrike" cap="none" spc="0">
                <a:solidFill/>
                <a:latin typeface="Caladea"/>
                <a:ea typeface="Caladea"/>
                <a:cs typeface="Caladea"/>
              </a:rPr>
              <a:t>anagement</a:t>
            </a:r>
            <a:r>
              <a:rPr lang="en-US" sz="2800" b="0" i="0" u="none" strike="noStrike" cap="none" spc="0">
                <a:solidFill/>
                <a:latin typeface="Caladea"/>
                <a:ea typeface="Caladea"/>
                <a:cs typeface="Caladea"/>
              </a:rPr>
              <a:t>.</a:t>
            </a:r>
            <a:endParaRPr lang="en-US" sz="2800" i="0" u="none" strike="noStrike" cap="none" spc="0">
              <a:solidFill/>
              <a:latin typeface="Caladea"/>
              <a:cs typeface="Caladea"/>
            </a:endParaRPr>
          </a:p>
        </p:txBody>
      </p:sp>
      <p:sp>
        <p:nvSpPr>
          <p:cNvPr id="1480921569" name="Freeform 12"/>
          <p:cNvSpPr/>
          <p:nvPr/>
        </p:nvSpPr>
        <p:spPr bwMode="auto">
          <a:xfrm>
            <a:off x="4288580" y="2071461"/>
            <a:ext cx="9228841" cy="6523595"/>
          </a:xfrm>
          <a:custGeom>
            <a:avLst/>
            <a:gdLst/>
            <a:ahLst/>
            <a:cxnLst/>
            <a:rect l="l" t="t" r="r" b="b"/>
            <a:pathLst>
              <a:path w="9228841" h="6523595" fill="norm" stroke="1" extrusionOk="0">
                <a:moveTo>
                  <a:pt x="0" y="0"/>
                </a:moveTo>
                <a:lnTo>
                  <a:pt x="9228841" y="0"/>
                </a:lnTo>
                <a:lnTo>
                  <a:pt x="9228841" y="6523596"/>
                </a:lnTo>
                <a:lnTo>
                  <a:pt x="0" y="65235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999"/>
            </a:blip>
            <a:stretch>
              <a:fillRect l="-3515" t="-23221" r="0" b="-23221"/>
            </a:stretch>
          </a:blipFill>
        </p:spPr>
      </p:sp>
      <p:sp>
        <p:nvSpPr>
          <p:cNvPr id="807288472" name="Freeform 6"/>
          <p:cNvSpPr/>
          <p:nvPr/>
        </p:nvSpPr>
        <p:spPr bwMode="auto">
          <a:xfrm>
            <a:off x="15457048" y="-279179"/>
            <a:ext cx="2603115" cy="2603115"/>
          </a:xfrm>
          <a:custGeom>
            <a:avLst/>
            <a:gdLst/>
            <a:ahLst/>
            <a:cxnLst/>
            <a:rect l="l" t="t" r="r" b="b"/>
            <a:pathLst>
              <a:path w="2603115" h="2603115" fill="norm" stroke="1" extrusionOk="0">
                <a:moveTo>
                  <a:pt x="0" y="0"/>
                </a:moveTo>
                <a:lnTo>
                  <a:pt x="2603114" y="0"/>
                </a:lnTo>
                <a:lnTo>
                  <a:pt x="2603114" y="2603115"/>
                </a:lnTo>
                <a:lnTo>
                  <a:pt x="0" y="26031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6155429" name="Freeform 7"/>
          <p:cNvSpPr/>
          <p:nvPr/>
        </p:nvSpPr>
        <p:spPr bwMode="auto">
          <a:xfrm>
            <a:off x="685800" y="552285"/>
            <a:ext cx="3094349" cy="1450639"/>
          </a:xfrm>
          <a:custGeom>
            <a:avLst/>
            <a:gdLst/>
            <a:ahLst/>
            <a:cxnLst/>
            <a:rect l="l" t="t" r="r" b="b"/>
            <a:pathLst>
              <a:path w="3094349" h="1450639" fill="norm" stroke="1" extrusionOk="0">
                <a:moveTo>
                  <a:pt x="0" y="0"/>
                </a:moveTo>
                <a:lnTo>
                  <a:pt x="3094349" y="0"/>
                </a:lnTo>
                <a:lnTo>
                  <a:pt x="3094349" y="1450639"/>
                </a:lnTo>
                <a:lnTo>
                  <a:pt x="0" y="14506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6361213" name="TextBox 2"/>
          <p:cNvSpPr txBox="1"/>
          <p:nvPr/>
        </p:nvSpPr>
        <p:spPr bwMode="auto">
          <a:xfrm>
            <a:off x="3011783" y="395525"/>
            <a:ext cx="12476222" cy="975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indent="0" algn="ctr">
              <a:lnSpc>
                <a:spcPts val="7678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i="0" u="none" strike="noStrike" cap="none" spc="0">
                <a:solidFill/>
                <a:latin typeface="Caladea"/>
                <a:ea typeface="Caladea"/>
                <a:cs typeface="Caladea"/>
              </a:rPr>
              <a:t>Impacts and Benefits &amp; System Architecture</a:t>
            </a:r>
            <a:endParaRPr sz="3600" b="1" i="0" u="none" strike="noStrike" cap="none">
              <a:solidFill/>
              <a:latin typeface="Caladea"/>
              <a:cs typeface="Caladea"/>
            </a:endParaRPr>
          </a:p>
        </p:txBody>
      </p:sp>
      <p:pic>
        <p:nvPicPr>
          <p:cNvPr id="1429725105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13786494" y="1946479"/>
            <a:ext cx="2776724" cy="7379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799945" name="TextBox 2"/>
          <p:cNvSpPr txBox="1"/>
          <p:nvPr/>
        </p:nvSpPr>
        <p:spPr bwMode="auto">
          <a:xfrm>
            <a:off x="3477879" y="534518"/>
            <a:ext cx="12444903" cy="975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indent="0" algn="ctr">
              <a:lnSpc>
                <a:spcPts val="7679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i="0" u="none" strike="noStrike" cap="none">
                <a:solidFill/>
                <a:latin typeface="Caladea"/>
                <a:ea typeface="Caladea"/>
                <a:cs typeface="Caladea"/>
              </a:rPr>
              <a:t>RESEARCH AND REFERENCES</a:t>
            </a:r>
            <a:endParaRPr lang="en-US" sz="4800" b="1" i="0" u="none" strike="noStrike" cap="none">
              <a:solidFill/>
              <a:latin typeface="Caladea"/>
              <a:cs typeface="Caladea"/>
            </a:endParaRPr>
          </a:p>
        </p:txBody>
      </p:sp>
      <p:grpSp>
        <p:nvGrpSpPr>
          <p:cNvPr id="625095480" name="Group 3"/>
          <p:cNvGrpSpPr/>
          <p:nvPr/>
        </p:nvGrpSpPr>
        <p:grpSpPr bwMode="auto">
          <a:xfrm>
            <a:off x="15652205" y="9565386"/>
            <a:ext cx="2407958" cy="661283"/>
            <a:chOff x="0" y="0"/>
            <a:chExt cx="634194" cy="174165"/>
          </a:xfrm>
        </p:grpSpPr>
        <p:sp>
          <p:nvSpPr>
            <p:cNvPr id="4" name="Freeform 4"/>
            <p:cNvSpPr/>
            <p:nvPr/>
          </p:nvSpPr>
          <p:spPr bwMode="auto">
            <a:xfrm>
              <a:off x="0" y="0"/>
              <a:ext cx="634194" cy="174165"/>
            </a:xfrm>
            <a:custGeom>
              <a:avLst/>
              <a:gdLst/>
              <a:ahLst/>
              <a:cxnLst/>
              <a:rect l="l" t="t" r="r" b="b"/>
              <a:pathLst>
                <a:path w="634195" h="174165" fill="norm" stroke="1" extrusionOk="0">
                  <a:moveTo>
                    <a:pt x="87083" y="0"/>
                  </a:moveTo>
                  <a:lnTo>
                    <a:pt x="547112" y="0"/>
                  </a:lnTo>
                  <a:cubicBezTo>
                    <a:pt x="570208" y="0"/>
                    <a:pt x="592358" y="9175"/>
                    <a:pt x="608689" y="25506"/>
                  </a:cubicBezTo>
                  <a:cubicBezTo>
                    <a:pt x="625020" y="41837"/>
                    <a:pt x="634195" y="63987"/>
                    <a:pt x="634195" y="87083"/>
                  </a:cubicBezTo>
                  <a:lnTo>
                    <a:pt x="634195" y="87083"/>
                  </a:lnTo>
                  <a:cubicBezTo>
                    <a:pt x="634195" y="110178"/>
                    <a:pt x="625020" y="132328"/>
                    <a:pt x="608689" y="148659"/>
                  </a:cubicBezTo>
                  <a:cubicBezTo>
                    <a:pt x="592358" y="164990"/>
                    <a:pt x="570208" y="174165"/>
                    <a:pt x="547112" y="174165"/>
                  </a:cubicBezTo>
                  <a:lnTo>
                    <a:pt x="87083" y="174165"/>
                  </a:lnTo>
                  <a:cubicBezTo>
                    <a:pt x="63987" y="174165"/>
                    <a:pt x="41837" y="164990"/>
                    <a:pt x="25506" y="148659"/>
                  </a:cubicBezTo>
                  <a:cubicBezTo>
                    <a:pt x="9175" y="132328"/>
                    <a:pt x="0" y="110178"/>
                    <a:pt x="0" y="87083"/>
                  </a:cubicBezTo>
                  <a:lnTo>
                    <a:pt x="0" y="87083"/>
                  </a:lnTo>
                  <a:cubicBezTo>
                    <a:pt x="0" y="63987"/>
                    <a:pt x="9175" y="41837"/>
                    <a:pt x="25506" y="25506"/>
                  </a:cubicBezTo>
                  <a:cubicBezTo>
                    <a:pt x="41837" y="9175"/>
                    <a:pt x="63987" y="0"/>
                    <a:pt x="87083" y="0"/>
                  </a:cubicBezTo>
                  <a:close/>
                </a:path>
              </a:pathLst>
            </a:custGeom>
            <a:solidFill>
              <a:srgbClr val="98C4EC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57150"/>
              <a:ext cx="634194" cy="2313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  <a:defRPr/>
              </a:pPr>
              <a:r>
                <a:rPr lang="en-US" sz="2800" b="1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</a:rPr>
                <a:t>GROUP-28</a:t>
              </a:r>
              <a:endParaRPr/>
            </a:p>
          </p:txBody>
        </p:sp>
      </p:grpSp>
      <p:sp>
        <p:nvSpPr>
          <p:cNvPr id="138737305" name="Freeform 8"/>
          <p:cNvSpPr/>
          <p:nvPr/>
        </p:nvSpPr>
        <p:spPr bwMode="auto">
          <a:xfrm>
            <a:off x="131324" y="9358753"/>
            <a:ext cx="2275834" cy="772925"/>
          </a:xfrm>
          <a:custGeom>
            <a:avLst/>
            <a:gdLst/>
            <a:ahLst/>
            <a:cxnLst/>
            <a:rect l="l" t="t" r="r" b="b"/>
            <a:pathLst>
              <a:path w="2275834" h="772925" fill="norm" stroke="1" extrusionOk="0">
                <a:moveTo>
                  <a:pt x="0" y="0"/>
                </a:moveTo>
                <a:lnTo>
                  <a:pt x="2275834" y="0"/>
                </a:lnTo>
                <a:lnTo>
                  <a:pt x="2275834" y="772925"/>
                </a:lnTo>
                <a:lnTo>
                  <a:pt x="0" y="7729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</p:sp>
      <p:sp>
        <p:nvSpPr>
          <p:cNvPr id="47163715" name="AutoShape 9"/>
          <p:cNvSpPr/>
          <p:nvPr/>
        </p:nvSpPr>
        <p:spPr bwMode="auto">
          <a:xfrm>
            <a:off x="2930000" y="9696477"/>
            <a:ext cx="12198329" cy="0"/>
          </a:xfrm>
          <a:prstGeom prst="line">
            <a:avLst/>
          </a:prstGeom>
          <a:ln w="28575" cap="flat">
            <a:solidFill>
              <a:srgbClr val="AA131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88131593" name="TextBox 10"/>
          <p:cNvSpPr txBox="1"/>
          <p:nvPr/>
        </p:nvSpPr>
        <p:spPr bwMode="auto">
          <a:xfrm>
            <a:off x="1843642" y="9697590"/>
            <a:ext cx="939957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5C2D88"/>
                </a:solidFill>
                <a:latin typeface="Canva Sans Bold"/>
                <a:ea typeface="Canva Sans Bold"/>
                <a:cs typeface="Canva Sans Bold"/>
              </a:rPr>
              <a:t>Nagpur | Pune | Jalgaon | Amravati | Pandhura | Bhandara</a:t>
            </a:r>
            <a:endParaRPr/>
          </a:p>
        </p:txBody>
      </p:sp>
      <p:sp>
        <p:nvSpPr>
          <p:cNvPr id="1228216854" name="TextBox 11"/>
          <p:cNvSpPr txBox="1"/>
          <p:nvPr/>
        </p:nvSpPr>
        <p:spPr bwMode="auto">
          <a:xfrm flipH="0" flipV="0">
            <a:off x="1843641" y="2930026"/>
            <a:ext cx="14931163" cy="5547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023" marR="0" lvl="1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800" b="1" i="0" u="none" strike="noStrike" cap="none" spc="0">
                <a:solidFill/>
                <a:latin typeface="Caladea"/>
                <a:ea typeface="Caladea"/>
                <a:cs typeface="Caladea"/>
              </a:rPr>
              <a:t>Dataset : </a:t>
            </a:r>
            <a:endParaRPr lang="en-US" sz="2800" i="0" u="none" strike="noStrike" cap="none" spc="0">
              <a:solidFill/>
              <a:latin typeface="Caladea"/>
              <a:ea typeface="Caladea"/>
              <a:cs typeface="Caladea"/>
            </a:endParaRPr>
          </a:p>
          <a:p>
            <a:pPr marL="794073" marR="0" lvl="2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800" i="1" u="sng">
                <a:solidFill>
                  <a:srgbClr val="000000"/>
                </a:solidFill>
                <a:latin typeface="DM Sans"/>
                <a:ea typeface="DM Sans"/>
                <a:cs typeface="DM Sans"/>
                <a:hlinkClick r:id="rId4" tooltip=""/>
              </a:rPr>
              <a:t>dataset</a:t>
            </a:r>
            <a:endParaRPr lang="en-US" sz="2800" i="1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 marL="394023" marR="0" lvl="1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-US" sz="2800" i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 marL="394023" marR="0" lvl="1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800" b="1" i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Research Paper :</a:t>
            </a:r>
            <a:r>
              <a:rPr lang="en-US" sz="2800" b="1" i="0">
                <a:solidFill>
                  <a:srgbClr val="000000"/>
                </a:solidFill>
                <a:latin typeface="DM Sans"/>
                <a:ea typeface="DM Sans"/>
                <a:cs typeface="DM Sans"/>
              </a:rPr>
              <a:t> </a:t>
            </a:r>
            <a:endParaRPr sz="2800" b="1" i="0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 marL="794073" marR="0" lvl="2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800" i="1" u="sng">
                <a:solidFill>
                  <a:srgbClr val="000000"/>
                </a:solidFill>
                <a:latin typeface="DM Sans"/>
                <a:ea typeface="DM Sans"/>
                <a:cs typeface="DM Sans"/>
                <a:hlinkClick r:id="rId5" tooltip=""/>
              </a:rPr>
              <a:t>Smart City Traffic Patterns Prediction Using Machine Learning</a:t>
            </a:r>
            <a:endParaRPr lang="en-US" sz="2800" i="1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 marL="794073" marR="0" lvl="2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800" i="1" u="sng">
                <a:solidFill>
                  <a:srgbClr val="000000"/>
                </a:solidFill>
                <a:latin typeface="DM Sans"/>
                <a:ea typeface="DM Sans"/>
                <a:cs typeface="DM Sans"/>
                <a:hlinkClick r:id="rId6" tooltip=""/>
              </a:rPr>
              <a:t>Machine Learning-Based Air Pollution Monitoring and Forecasting</a:t>
            </a:r>
            <a:endParaRPr lang="en-US" sz="2800" i="1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 marL="794073" marR="0" lvl="2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800" i="1" u="sng">
                <a:solidFill>
                  <a:srgbClr val="000000"/>
                </a:solidFill>
                <a:latin typeface="DM Sans"/>
                <a:ea typeface="DM Sans"/>
                <a:cs typeface="DM Sans"/>
                <a:hlinkClick r:id="rId7" tooltip=""/>
              </a:rPr>
              <a:t>Traffic Pattern Classification in Smart Cities Using Deep Recurrent Neural Networks</a:t>
            </a:r>
            <a:endParaRPr lang="en-US" sz="2800" i="1">
              <a:solidFill>
                <a:srgbClr val="000000"/>
              </a:solidFill>
              <a:latin typeface="DM Sans"/>
              <a:ea typeface="DM Sans"/>
              <a:cs typeface="DM Sans"/>
            </a:endParaRPr>
          </a:p>
          <a:p>
            <a:pPr marL="394023" marR="0" lvl="2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endParaRPr lang="en-US" sz="2800" b="1" i="0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  <a:p>
            <a:pPr marL="394023" marR="0" lvl="2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800" b="1" i="0" u="none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</a:rPr>
              <a:t>News Articles : </a:t>
            </a:r>
            <a:endParaRPr lang="en-US" sz="2800" b="1" i="0" u="none" strike="noStrike" cap="none" spc="0">
              <a:solidFill>
                <a:srgbClr val="000000"/>
              </a:solidFill>
              <a:latin typeface="Caladea"/>
              <a:ea typeface="Caladea"/>
              <a:cs typeface="Caladea"/>
            </a:endParaRPr>
          </a:p>
          <a:p>
            <a:pPr marL="794073" marR="0" lvl="3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800" b="0" i="1" u="sng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  <a:hlinkClick r:id="rId8" tooltip=""/>
              </a:rPr>
              <a:t>Rising Vehicles Causing Severe Traffic Congestion</a:t>
            </a:r>
            <a:endParaRPr lang="en-US" sz="2800" b="0" i="1" u="none" strike="noStrike" cap="none" spc="0">
              <a:solidFill>
                <a:srgbClr val="000000"/>
              </a:solidFill>
              <a:latin typeface="Caladea"/>
              <a:ea typeface="Caladea"/>
              <a:cs typeface="Caladea"/>
            </a:endParaRPr>
          </a:p>
          <a:p>
            <a:pPr marL="794073" marR="0" lvl="3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800" b="0" i="1" u="sng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  <a:hlinkClick r:id="rId9" tooltip=""/>
              </a:rPr>
              <a:t>Bengaluru Among the Most Congested Cities in the World</a:t>
            </a:r>
            <a:endParaRPr lang="en-US" sz="2800" b="0" i="1" u="none" strike="noStrike" cap="none" spc="0">
              <a:solidFill>
                <a:srgbClr val="000000"/>
              </a:solidFill>
              <a:latin typeface="Caladea"/>
              <a:ea typeface="Caladea"/>
              <a:cs typeface="Caladea"/>
            </a:endParaRPr>
          </a:p>
          <a:p>
            <a:pPr marL="794073" marR="0" lvl="3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800" b="0" i="1" u="sng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  <a:hlinkClick r:id="rId10" tooltip=""/>
              </a:rPr>
              <a:t>Weather and Urban Conditions Increasing Air Pollution</a:t>
            </a:r>
            <a:endParaRPr lang="en-US" sz="2800" b="0" i="1" u="none" strike="noStrike" cap="none" spc="0">
              <a:solidFill>
                <a:srgbClr val="000000"/>
              </a:solidFill>
              <a:latin typeface="Caladea"/>
              <a:ea typeface="Caladea"/>
              <a:cs typeface="Caladea"/>
            </a:endParaRPr>
          </a:p>
          <a:p>
            <a:pPr marL="794073" marR="0" lvl="3" indent="-39402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en-US" sz="2800" b="0" i="1" u="sng" strike="noStrike" cap="none" spc="0">
                <a:solidFill>
                  <a:srgbClr val="000000"/>
                </a:solidFill>
                <a:latin typeface="Caladea"/>
                <a:ea typeface="Caladea"/>
                <a:cs typeface="Caladea"/>
                <a:hlinkClick r:id="rId11" tooltip=""/>
              </a:rPr>
              <a:t>Large Vehicles Increasing Urban Congestion and Safety Risks</a:t>
            </a:r>
            <a:endParaRPr sz="2800" b="0" i="1" u="none" strike="noStrike" cap="none" spc="0">
              <a:solidFill>
                <a:srgbClr val="000000"/>
              </a:solidFill>
              <a:latin typeface="Caladea"/>
              <a:cs typeface="Caladea"/>
            </a:endParaRPr>
          </a:p>
        </p:txBody>
      </p:sp>
      <p:sp>
        <p:nvSpPr>
          <p:cNvPr id="1501077733" name="Freeform 12"/>
          <p:cNvSpPr/>
          <p:nvPr/>
        </p:nvSpPr>
        <p:spPr bwMode="auto">
          <a:xfrm>
            <a:off x="4288580" y="2071461"/>
            <a:ext cx="9228841" cy="6523595"/>
          </a:xfrm>
          <a:custGeom>
            <a:avLst/>
            <a:gdLst/>
            <a:ahLst/>
            <a:cxnLst/>
            <a:rect l="l" t="t" r="r" b="b"/>
            <a:pathLst>
              <a:path w="9228841" h="6523595" fill="norm" stroke="1" extrusionOk="0">
                <a:moveTo>
                  <a:pt x="0" y="0"/>
                </a:moveTo>
                <a:lnTo>
                  <a:pt x="9228841" y="0"/>
                </a:lnTo>
                <a:lnTo>
                  <a:pt x="9228841" y="6523596"/>
                </a:lnTo>
                <a:lnTo>
                  <a:pt x="0" y="65235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 amt="9999"/>
            </a:blip>
            <a:stretch>
              <a:fillRect l="-3515" t="-23221" r="0" b="-23221"/>
            </a:stretch>
          </a:blipFill>
        </p:spPr>
      </p:sp>
      <p:sp>
        <p:nvSpPr>
          <p:cNvPr id="540749359" name="Freeform 6"/>
          <p:cNvSpPr/>
          <p:nvPr/>
        </p:nvSpPr>
        <p:spPr bwMode="auto">
          <a:xfrm>
            <a:off x="15457048" y="-279179"/>
            <a:ext cx="2603115" cy="2603115"/>
          </a:xfrm>
          <a:custGeom>
            <a:avLst/>
            <a:gdLst/>
            <a:ahLst/>
            <a:cxnLst/>
            <a:rect l="l" t="t" r="r" b="b"/>
            <a:pathLst>
              <a:path w="2603115" h="2603115" fill="norm" stroke="1" extrusionOk="0">
                <a:moveTo>
                  <a:pt x="0" y="0"/>
                </a:moveTo>
                <a:lnTo>
                  <a:pt x="2603114" y="0"/>
                </a:lnTo>
                <a:lnTo>
                  <a:pt x="2603114" y="2603115"/>
                </a:lnTo>
                <a:lnTo>
                  <a:pt x="0" y="26031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4002357" name="Freeform 7"/>
          <p:cNvSpPr/>
          <p:nvPr/>
        </p:nvSpPr>
        <p:spPr bwMode="auto">
          <a:xfrm>
            <a:off x="685800" y="552285"/>
            <a:ext cx="3094349" cy="1450639"/>
          </a:xfrm>
          <a:custGeom>
            <a:avLst/>
            <a:gdLst/>
            <a:ahLst/>
            <a:cxnLst/>
            <a:rect l="l" t="t" r="r" b="b"/>
            <a:pathLst>
              <a:path w="3094349" h="1450639" fill="norm" stroke="1" extrusionOk="0">
                <a:moveTo>
                  <a:pt x="0" y="0"/>
                </a:moveTo>
                <a:lnTo>
                  <a:pt x="3094349" y="0"/>
                </a:lnTo>
                <a:lnTo>
                  <a:pt x="3094349" y="1450639"/>
                </a:lnTo>
                <a:lnTo>
                  <a:pt x="0" y="14506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9890473" name="Group 2"/>
          <p:cNvGrpSpPr/>
          <p:nvPr/>
        </p:nvGrpSpPr>
        <p:grpSpPr bwMode="auto">
          <a:xfrm>
            <a:off x="15652205" y="9565386"/>
            <a:ext cx="2407958" cy="661283"/>
            <a:chOff x="0" y="0"/>
            <a:chExt cx="634194" cy="174165"/>
          </a:xfrm>
        </p:grpSpPr>
        <p:sp>
          <p:nvSpPr>
            <p:cNvPr id="3" name="Freeform 3"/>
            <p:cNvSpPr/>
            <p:nvPr/>
          </p:nvSpPr>
          <p:spPr bwMode="auto">
            <a:xfrm>
              <a:off x="0" y="0"/>
              <a:ext cx="634194" cy="174165"/>
            </a:xfrm>
            <a:custGeom>
              <a:avLst/>
              <a:gdLst/>
              <a:ahLst/>
              <a:cxnLst/>
              <a:rect l="l" t="t" r="r" b="b"/>
              <a:pathLst>
                <a:path w="634195" h="174165" fill="norm" stroke="1" extrusionOk="0">
                  <a:moveTo>
                    <a:pt x="87083" y="0"/>
                  </a:moveTo>
                  <a:lnTo>
                    <a:pt x="547112" y="0"/>
                  </a:lnTo>
                  <a:cubicBezTo>
                    <a:pt x="570208" y="0"/>
                    <a:pt x="592358" y="9175"/>
                    <a:pt x="608689" y="25506"/>
                  </a:cubicBezTo>
                  <a:cubicBezTo>
                    <a:pt x="625020" y="41837"/>
                    <a:pt x="634195" y="63987"/>
                    <a:pt x="634195" y="87083"/>
                  </a:cubicBezTo>
                  <a:lnTo>
                    <a:pt x="634195" y="87083"/>
                  </a:lnTo>
                  <a:cubicBezTo>
                    <a:pt x="634195" y="110178"/>
                    <a:pt x="625020" y="132328"/>
                    <a:pt x="608689" y="148659"/>
                  </a:cubicBezTo>
                  <a:cubicBezTo>
                    <a:pt x="592358" y="164990"/>
                    <a:pt x="570208" y="174165"/>
                    <a:pt x="547112" y="174165"/>
                  </a:cubicBezTo>
                  <a:lnTo>
                    <a:pt x="87083" y="174165"/>
                  </a:lnTo>
                  <a:cubicBezTo>
                    <a:pt x="63987" y="174165"/>
                    <a:pt x="41837" y="164990"/>
                    <a:pt x="25506" y="148659"/>
                  </a:cubicBezTo>
                  <a:cubicBezTo>
                    <a:pt x="9175" y="132328"/>
                    <a:pt x="0" y="110178"/>
                    <a:pt x="0" y="87083"/>
                  </a:cubicBezTo>
                  <a:lnTo>
                    <a:pt x="0" y="87083"/>
                  </a:lnTo>
                  <a:cubicBezTo>
                    <a:pt x="0" y="63987"/>
                    <a:pt x="9175" y="41837"/>
                    <a:pt x="25506" y="25506"/>
                  </a:cubicBezTo>
                  <a:cubicBezTo>
                    <a:pt x="41837" y="9175"/>
                    <a:pt x="63987" y="0"/>
                    <a:pt x="87083" y="0"/>
                  </a:cubicBezTo>
                  <a:close/>
                </a:path>
              </a:pathLst>
            </a:custGeom>
            <a:solidFill>
              <a:srgbClr val="98C4EC"/>
            </a:solidFill>
          </p:spPr>
        </p:sp>
        <p:sp>
          <p:nvSpPr>
            <p:cNvPr id="4" name="TextBox 4"/>
            <p:cNvSpPr txBox="1"/>
            <p:nvPr/>
          </p:nvSpPr>
          <p:spPr bwMode="auto">
            <a:xfrm>
              <a:off x="0" y="-57150"/>
              <a:ext cx="634194" cy="2313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  <a:defRPr/>
              </a:pPr>
              <a:r>
                <a:rPr lang="en-US" sz="2800" b="1">
                  <a:solidFill>
                    <a:srgbClr val="FFFFFF"/>
                  </a:solidFill>
                  <a:latin typeface="Neue Montreal Bold"/>
                  <a:ea typeface="Neue Montreal Bold"/>
                  <a:cs typeface="Neue Montreal Bold"/>
                </a:rPr>
                <a:t>GROUP-28</a:t>
              </a:r>
              <a:endParaRPr/>
            </a:p>
          </p:txBody>
        </p:sp>
      </p:grpSp>
      <p:sp>
        <p:nvSpPr>
          <p:cNvPr id="1665367365" name="Freeform 7"/>
          <p:cNvSpPr/>
          <p:nvPr/>
        </p:nvSpPr>
        <p:spPr bwMode="auto">
          <a:xfrm>
            <a:off x="131324" y="9358753"/>
            <a:ext cx="2275834" cy="772925"/>
          </a:xfrm>
          <a:custGeom>
            <a:avLst/>
            <a:gdLst/>
            <a:ahLst/>
            <a:cxnLst/>
            <a:rect l="l" t="t" r="r" b="b"/>
            <a:pathLst>
              <a:path w="2275834" h="772925" fill="norm" stroke="1" extrusionOk="0">
                <a:moveTo>
                  <a:pt x="0" y="0"/>
                </a:moveTo>
                <a:lnTo>
                  <a:pt x="2275834" y="0"/>
                </a:lnTo>
                <a:lnTo>
                  <a:pt x="2275834" y="772925"/>
                </a:lnTo>
                <a:lnTo>
                  <a:pt x="0" y="7729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/>
          </a:blipFill>
        </p:spPr>
      </p:sp>
      <p:sp>
        <p:nvSpPr>
          <p:cNvPr id="1101409191" name="AutoShape 8"/>
          <p:cNvSpPr/>
          <p:nvPr/>
        </p:nvSpPr>
        <p:spPr bwMode="auto">
          <a:xfrm>
            <a:off x="2930000" y="9696477"/>
            <a:ext cx="12198329" cy="0"/>
          </a:xfrm>
          <a:prstGeom prst="line">
            <a:avLst/>
          </a:prstGeom>
          <a:ln w="28575" cap="flat">
            <a:solidFill>
              <a:srgbClr val="AA131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20906581" name="TextBox 11"/>
          <p:cNvSpPr txBox="1"/>
          <p:nvPr/>
        </p:nvSpPr>
        <p:spPr bwMode="auto">
          <a:xfrm>
            <a:off x="1843642" y="9697590"/>
            <a:ext cx="939957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defRPr/>
            </a:pPr>
            <a:r>
              <a:rPr lang="en-US" sz="2000" b="1">
                <a:solidFill>
                  <a:srgbClr val="5C2D88"/>
                </a:solidFill>
                <a:latin typeface="Canva Sans Bold"/>
                <a:ea typeface="Canva Sans Bold"/>
                <a:cs typeface="Canva Sans Bold"/>
              </a:rPr>
              <a:t>Nagpur | Pune | Jalgaon | Amravati | Pandhura | Bhandara</a:t>
            </a:r>
            <a:endParaRPr/>
          </a:p>
        </p:txBody>
      </p:sp>
      <p:sp>
        <p:nvSpPr>
          <p:cNvPr id="971944442" name="Freeform 14"/>
          <p:cNvSpPr/>
          <p:nvPr/>
        </p:nvSpPr>
        <p:spPr bwMode="auto">
          <a:xfrm>
            <a:off x="4288580" y="2071461"/>
            <a:ext cx="9228841" cy="6523595"/>
          </a:xfrm>
          <a:custGeom>
            <a:avLst/>
            <a:gdLst/>
            <a:ahLst/>
            <a:cxnLst/>
            <a:rect l="l" t="t" r="r" b="b"/>
            <a:pathLst>
              <a:path w="9228841" h="6523595" fill="norm" stroke="1" extrusionOk="0">
                <a:moveTo>
                  <a:pt x="0" y="0"/>
                </a:moveTo>
                <a:lnTo>
                  <a:pt x="9228841" y="0"/>
                </a:lnTo>
                <a:lnTo>
                  <a:pt x="9228841" y="6523596"/>
                </a:lnTo>
                <a:lnTo>
                  <a:pt x="0" y="65235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9999"/>
            </a:blip>
            <a:stretch>
              <a:fillRect l="-3515" t="-23221" r="0" b="-23221"/>
            </a:stretch>
          </a:blipFill>
        </p:spPr>
      </p:sp>
      <p:sp>
        <p:nvSpPr>
          <p:cNvPr id="169211013" name="Freeform 6"/>
          <p:cNvSpPr/>
          <p:nvPr/>
        </p:nvSpPr>
        <p:spPr bwMode="auto">
          <a:xfrm>
            <a:off x="15457048" y="-279179"/>
            <a:ext cx="2603115" cy="2603115"/>
          </a:xfrm>
          <a:custGeom>
            <a:avLst/>
            <a:gdLst/>
            <a:ahLst/>
            <a:cxnLst/>
            <a:rect l="l" t="t" r="r" b="b"/>
            <a:pathLst>
              <a:path w="2603115" h="2603115" fill="norm" stroke="1" extrusionOk="0">
                <a:moveTo>
                  <a:pt x="0" y="0"/>
                </a:moveTo>
                <a:lnTo>
                  <a:pt x="2603114" y="0"/>
                </a:lnTo>
                <a:lnTo>
                  <a:pt x="2603114" y="2603115"/>
                </a:lnTo>
                <a:lnTo>
                  <a:pt x="0" y="26031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9413778" name="Freeform 7"/>
          <p:cNvSpPr/>
          <p:nvPr/>
        </p:nvSpPr>
        <p:spPr bwMode="auto">
          <a:xfrm>
            <a:off x="685800" y="552285"/>
            <a:ext cx="3094349" cy="1450639"/>
          </a:xfrm>
          <a:custGeom>
            <a:avLst/>
            <a:gdLst/>
            <a:ahLst/>
            <a:cxnLst/>
            <a:rect l="l" t="t" r="r" b="b"/>
            <a:pathLst>
              <a:path w="3094349" h="1450639" fill="norm" stroke="1" extrusionOk="0">
                <a:moveTo>
                  <a:pt x="0" y="0"/>
                </a:moveTo>
                <a:lnTo>
                  <a:pt x="3094349" y="0"/>
                </a:lnTo>
                <a:lnTo>
                  <a:pt x="3094349" y="1450639"/>
                </a:lnTo>
                <a:lnTo>
                  <a:pt x="0" y="14506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1196018" name="TextBox 10"/>
          <p:cNvSpPr txBox="1"/>
          <p:nvPr/>
        </p:nvSpPr>
        <p:spPr bwMode="auto">
          <a:xfrm flipH="0" flipV="0">
            <a:off x="4288579" y="0"/>
            <a:ext cx="5053253" cy="975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indent="0" algn="ctr">
              <a:lnSpc>
                <a:spcPts val="7678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i="0" u="none" strike="noStrike" cap="none">
                <a:solidFill/>
                <a:latin typeface="Caladea"/>
                <a:ea typeface="Caladea"/>
                <a:cs typeface="Caladea"/>
              </a:rPr>
              <a:t>Use Case :</a:t>
            </a:r>
            <a:endParaRPr sz="3600" b="1" i="0" u="none" strike="noStrike" cap="none">
              <a:solidFill/>
              <a:latin typeface="Caladea"/>
              <a:cs typeface="Caladea"/>
            </a:endParaRPr>
          </a:p>
        </p:txBody>
      </p:sp>
      <p:pic>
        <p:nvPicPr>
          <p:cNvPr id="1550136379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5949349" y="130063"/>
            <a:ext cx="7379804" cy="95664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RSOC-2026</dc:title>
  <dc:creator>Nihal Parkhi</dc:creator>
  <dc:identifier>DAHDqI-E1TY</dc:identifier>
  <cp:lastModifiedBy/>
  <cp:revision>6</cp:revision>
  <dcterms:created xsi:type="dcterms:W3CDTF">2006-08-16T00:00:00Z</dcterms:created>
  <dcterms:modified xsi:type="dcterms:W3CDTF">2026-03-13T09:52:41Z</dcterms:modified>
</cp:coreProperties>
</file>